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423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93621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64878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3158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2016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91326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828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485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34077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61463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35832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67413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02185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3514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22713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241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9460205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rive.google.com/file/d/1xXUNWFd92TQ1HAsPD-YaCGBnfXkITnyw/view?usp=drive_lin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33477" y="335561"/>
            <a:ext cx="5872292" cy="3600986"/>
          </a:xfrm>
          <a:prstGeom prst="rect">
            <a:avLst/>
          </a:prstGeom>
        </p:spPr>
        <p:txBody>
          <a:bodyPr wrap="square">
            <a:spAutoFit/>
          </a:bodyPr>
          <a:lstStyle/>
          <a:p>
            <a:pPr algn="ctr"/>
            <a:r>
              <a:rPr lang="en-US" sz="4800" dirty="0" err="1" smtClean="0">
                <a:solidFill>
                  <a:srgbClr val="002060"/>
                </a:solidFill>
                <a:latin typeface="Lexend"/>
              </a:rPr>
              <a:t>Chuyên</a:t>
            </a:r>
            <a:r>
              <a:rPr lang="en-US" sz="4800" dirty="0" smtClean="0">
                <a:solidFill>
                  <a:srgbClr val="002060"/>
                </a:solidFill>
                <a:latin typeface="Lexend"/>
              </a:rPr>
              <a:t> </a:t>
            </a:r>
            <a:r>
              <a:rPr lang="en-US" sz="4800" dirty="0" err="1">
                <a:solidFill>
                  <a:srgbClr val="002060"/>
                </a:solidFill>
                <a:latin typeface="Lexend"/>
              </a:rPr>
              <a:t>đề</a:t>
            </a:r>
            <a:r>
              <a:rPr lang="en-US" sz="4800" dirty="0">
                <a:solidFill>
                  <a:srgbClr val="002060"/>
                </a:solidFill>
                <a:latin typeface="Lexend"/>
              </a:rPr>
              <a:t> </a:t>
            </a:r>
            <a:r>
              <a:rPr lang="en-US" sz="4800" dirty="0" smtClean="0">
                <a:solidFill>
                  <a:srgbClr val="002060"/>
                </a:solidFill>
                <a:latin typeface="Lexend"/>
              </a:rPr>
              <a:t>ASP.NET</a:t>
            </a:r>
          </a:p>
          <a:p>
            <a:pPr algn="ctr"/>
            <a:r>
              <a:rPr lang="en-US" sz="6000" b="1" dirty="0" smtClean="0">
                <a:solidFill>
                  <a:srgbClr val="002060"/>
                </a:solidFill>
                <a:latin typeface="Lexend"/>
              </a:rPr>
              <a:t>Website </a:t>
            </a:r>
            <a:r>
              <a:rPr lang="en-US" sz="6000" b="1" dirty="0" err="1">
                <a:solidFill>
                  <a:srgbClr val="002060"/>
                </a:solidFill>
                <a:latin typeface="Lexend"/>
              </a:rPr>
              <a:t>bán</a:t>
            </a:r>
            <a:r>
              <a:rPr lang="en-US" sz="6000" b="1" dirty="0">
                <a:solidFill>
                  <a:srgbClr val="002060"/>
                </a:solidFill>
                <a:latin typeface="Lexend"/>
              </a:rPr>
              <a:t> </a:t>
            </a:r>
            <a:r>
              <a:rPr lang="en-US" sz="6000" b="1" dirty="0" err="1">
                <a:solidFill>
                  <a:srgbClr val="002060"/>
                </a:solidFill>
                <a:latin typeface="Lexend"/>
              </a:rPr>
              <a:t>sản</a:t>
            </a:r>
            <a:r>
              <a:rPr lang="en-US" sz="6000" b="1" dirty="0">
                <a:solidFill>
                  <a:srgbClr val="002060"/>
                </a:solidFill>
                <a:latin typeface="Lexend"/>
              </a:rPr>
              <a:t> </a:t>
            </a:r>
            <a:r>
              <a:rPr lang="en-US" sz="6000" b="1" dirty="0" err="1" smtClean="0">
                <a:solidFill>
                  <a:srgbClr val="002060"/>
                </a:solidFill>
                <a:latin typeface="Lexend"/>
              </a:rPr>
              <a:t>phẩm</a:t>
            </a:r>
            <a:r>
              <a:rPr lang="en-US" sz="6000" b="1" dirty="0" smtClean="0">
                <a:solidFill>
                  <a:srgbClr val="002060"/>
                </a:solidFill>
                <a:latin typeface="Lexend"/>
              </a:rPr>
              <a:t> </a:t>
            </a:r>
            <a:r>
              <a:rPr lang="en-US" sz="6000" b="1" dirty="0" err="1" smtClean="0">
                <a:solidFill>
                  <a:srgbClr val="002060"/>
                </a:solidFill>
                <a:latin typeface="Lexend"/>
              </a:rPr>
              <a:t>công</a:t>
            </a:r>
            <a:r>
              <a:rPr lang="en-US" sz="6000" b="1" dirty="0" smtClean="0">
                <a:solidFill>
                  <a:srgbClr val="002060"/>
                </a:solidFill>
                <a:latin typeface="Lexend"/>
              </a:rPr>
              <a:t> </a:t>
            </a:r>
            <a:r>
              <a:rPr lang="en-US" sz="6000" b="1" dirty="0" err="1" smtClean="0">
                <a:solidFill>
                  <a:srgbClr val="002060"/>
                </a:solidFill>
                <a:latin typeface="Lexend"/>
              </a:rPr>
              <a:t>nghệ</a:t>
            </a:r>
            <a:r>
              <a:rPr lang="en-US" sz="6000" b="1" dirty="0" smtClean="0">
                <a:solidFill>
                  <a:srgbClr val="002060"/>
                </a:solidFill>
                <a:latin typeface="Lexend"/>
              </a:rPr>
              <a:t> </a:t>
            </a:r>
            <a:r>
              <a:rPr lang="en-US" sz="6000" b="1" dirty="0" err="1" smtClean="0">
                <a:solidFill>
                  <a:srgbClr val="002060"/>
                </a:solidFill>
                <a:latin typeface="Lexend"/>
              </a:rPr>
              <a:t>của</a:t>
            </a:r>
            <a:r>
              <a:rPr lang="en-US" sz="6000" b="1" dirty="0" smtClean="0">
                <a:solidFill>
                  <a:srgbClr val="002060"/>
                </a:solidFill>
                <a:latin typeface="Lexend"/>
              </a:rPr>
              <a:t> Apple</a:t>
            </a:r>
            <a:endParaRPr lang="en-US" sz="6000" b="1" dirty="0">
              <a:solidFill>
                <a:srgbClr val="002060"/>
              </a:solidFill>
            </a:endParaRPr>
          </a:p>
        </p:txBody>
      </p:sp>
      <p:sp>
        <p:nvSpPr>
          <p:cNvPr id="5" name="Rectangle 4"/>
          <p:cNvSpPr/>
          <p:nvPr/>
        </p:nvSpPr>
        <p:spPr>
          <a:xfrm>
            <a:off x="1947643" y="4179827"/>
            <a:ext cx="8229600" cy="383783"/>
          </a:xfrm>
          <a:prstGeom prst="rect">
            <a:avLst/>
          </a:prstGeom>
        </p:spPr>
        <p:txBody>
          <a:bodyPr wrap="square">
            <a:spAutoFit/>
          </a:bodyPr>
          <a:lstStyle/>
          <a:p>
            <a:r>
              <a:rPr lang="en-US" dirty="0" err="1">
                <a:latin typeface="Inter"/>
              </a:rPr>
              <a:t>Sinh</a:t>
            </a:r>
            <a:r>
              <a:rPr lang="en-US" dirty="0">
                <a:latin typeface="Inter"/>
              </a:rPr>
              <a:t> </a:t>
            </a:r>
            <a:r>
              <a:rPr lang="en-US" dirty="0" err="1">
                <a:latin typeface="Inter"/>
              </a:rPr>
              <a:t>viên</a:t>
            </a:r>
            <a:r>
              <a:rPr lang="en-US" dirty="0">
                <a:latin typeface="Inter"/>
              </a:rPr>
              <a:t> </a:t>
            </a:r>
            <a:r>
              <a:rPr lang="en-US" dirty="0" err="1">
                <a:latin typeface="Inter"/>
              </a:rPr>
              <a:t>thực</a:t>
            </a:r>
            <a:r>
              <a:rPr lang="en-US" dirty="0">
                <a:latin typeface="Inter"/>
              </a:rPr>
              <a:t> </a:t>
            </a:r>
            <a:r>
              <a:rPr lang="en-US" dirty="0" err="1">
                <a:latin typeface="Inter"/>
              </a:rPr>
              <a:t>hiện</a:t>
            </a:r>
            <a:r>
              <a:rPr lang="en-US" dirty="0">
                <a:latin typeface="Inter"/>
              </a:rPr>
              <a:t>: Lâm </a:t>
            </a:r>
            <a:r>
              <a:rPr lang="en-US" dirty="0" err="1">
                <a:latin typeface="Inter"/>
              </a:rPr>
              <a:t>Văn</a:t>
            </a:r>
            <a:r>
              <a:rPr lang="en-US" dirty="0">
                <a:latin typeface="Inter"/>
              </a:rPr>
              <a:t> Chỉ - MSSV: 170124701 - </a:t>
            </a:r>
            <a:r>
              <a:rPr lang="en-US" dirty="0" err="1">
                <a:latin typeface="Inter"/>
              </a:rPr>
              <a:t>Lớp</a:t>
            </a:r>
            <a:r>
              <a:rPr lang="en-US" dirty="0">
                <a:latin typeface="Inter"/>
              </a:rPr>
              <a:t>: DK24TTC6</a:t>
            </a:r>
            <a:endParaRPr lang="en-US" dirty="0"/>
          </a:p>
        </p:txBody>
      </p:sp>
      <p:pic>
        <p:nvPicPr>
          <p:cNvPr id="6" name="Picture 5"/>
          <p:cNvPicPr>
            <a:picLocks noChangeAspect="1"/>
          </p:cNvPicPr>
          <p:nvPr/>
        </p:nvPicPr>
        <p:blipFill>
          <a:blip r:embed="rId2"/>
          <a:stretch>
            <a:fillRect/>
          </a:stretch>
        </p:blipFill>
        <p:spPr>
          <a:xfrm>
            <a:off x="3235756" y="4563610"/>
            <a:ext cx="4688236" cy="2181139"/>
          </a:xfrm>
          <a:prstGeom prst="rect">
            <a:avLst/>
          </a:prstGeom>
        </p:spPr>
      </p:pic>
      <p:sp>
        <p:nvSpPr>
          <p:cNvPr id="7" name="Rectangle 6"/>
          <p:cNvSpPr/>
          <p:nvPr/>
        </p:nvSpPr>
        <p:spPr>
          <a:xfrm>
            <a:off x="1947643" y="3866296"/>
            <a:ext cx="8229600" cy="383783"/>
          </a:xfrm>
          <a:prstGeom prst="rect">
            <a:avLst/>
          </a:prstGeom>
        </p:spPr>
        <p:txBody>
          <a:bodyPr wrap="square">
            <a:spAutoFit/>
          </a:bodyPr>
          <a:lstStyle/>
          <a:p>
            <a:r>
              <a:rPr lang="en-US" dirty="0" smtClean="0">
                <a:latin typeface="Inter"/>
              </a:rPr>
              <a:t>GV: TS. </a:t>
            </a:r>
            <a:r>
              <a:rPr lang="en-US" dirty="0" err="1" smtClean="0">
                <a:latin typeface="Inter"/>
              </a:rPr>
              <a:t>Đoàn</a:t>
            </a:r>
            <a:r>
              <a:rPr lang="en-US" dirty="0" smtClean="0">
                <a:latin typeface="Inter"/>
              </a:rPr>
              <a:t> </a:t>
            </a:r>
            <a:r>
              <a:rPr lang="en-US" dirty="0" err="1" smtClean="0">
                <a:latin typeface="Inter"/>
              </a:rPr>
              <a:t>Phước</a:t>
            </a:r>
            <a:r>
              <a:rPr lang="en-US" dirty="0" smtClean="0">
                <a:latin typeface="Inter"/>
              </a:rPr>
              <a:t> </a:t>
            </a:r>
            <a:r>
              <a:rPr lang="en-US" dirty="0" err="1" smtClean="0">
                <a:latin typeface="Inter"/>
              </a:rPr>
              <a:t>Miền</a:t>
            </a:r>
            <a:endParaRPr lang="en-US" dirty="0"/>
          </a:p>
        </p:txBody>
      </p:sp>
    </p:spTree>
    <p:extLst>
      <p:ext uri="{BB962C8B-B14F-4D97-AF65-F5344CB8AC3E}">
        <p14:creationId xmlns:p14="http://schemas.microsoft.com/office/powerpoint/2010/main" val="42028584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544" y="595424"/>
            <a:ext cx="8834470" cy="523220"/>
          </a:xfrm>
          <a:prstGeom prst="rect">
            <a:avLst/>
          </a:prstGeom>
        </p:spPr>
        <p:txBody>
          <a:bodyPr wrap="none">
            <a:spAutoFit/>
          </a:bodyPr>
          <a:lstStyle/>
          <a:p>
            <a:r>
              <a:rPr lang="vi-VN" sz="2800" dirty="0">
                <a:solidFill>
                  <a:srgbClr val="0A0D17"/>
                </a:solidFill>
              </a:rPr>
              <a:t>Lời cảm ơn chân thành gửi đến giảng viên hướng dẫn</a:t>
            </a:r>
            <a:endParaRPr lang="en-US" sz="2800" dirty="0"/>
          </a:p>
        </p:txBody>
      </p:sp>
      <p:sp>
        <p:nvSpPr>
          <p:cNvPr id="6" name="Rectangle 5"/>
          <p:cNvSpPr/>
          <p:nvPr/>
        </p:nvSpPr>
        <p:spPr>
          <a:xfrm>
            <a:off x="963551" y="1608481"/>
            <a:ext cx="3554243" cy="369332"/>
          </a:xfrm>
          <a:prstGeom prst="rect">
            <a:avLst/>
          </a:prstGeom>
        </p:spPr>
        <p:txBody>
          <a:bodyPr wrap="none">
            <a:spAutoFit/>
          </a:bodyPr>
          <a:lstStyle/>
          <a:p>
            <a:r>
              <a:rPr lang="en-US" b="1" dirty="0" smtClean="0">
                <a:solidFill>
                  <a:srgbClr val="0A0D17"/>
                </a:solidFill>
                <a:latin typeface="Arial" panose="020B0604020202020204" pitchFamily="34" charset="0"/>
                <a:cs typeface="Arial" panose="020B0604020202020204" pitchFamily="34" charset="0"/>
              </a:rPr>
              <a:t>1. </a:t>
            </a:r>
            <a:r>
              <a:rPr lang="vi-VN" b="1" dirty="0" smtClean="0">
                <a:solidFill>
                  <a:srgbClr val="0A0D17"/>
                </a:solidFill>
                <a:latin typeface="Arial" panose="020B0604020202020204" pitchFamily="34" charset="0"/>
                <a:cs typeface="Arial" panose="020B0604020202020204" pitchFamily="34" charset="0"/>
              </a:rPr>
              <a:t>Tri </a:t>
            </a:r>
            <a:r>
              <a:rPr lang="vi-VN" b="1" dirty="0">
                <a:solidFill>
                  <a:srgbClr val="0A0D17"/>
                </a:solidFill>
                <a:latin typeface="Arial" panose="020B0604020202020204" pitchFamily="34" charset="0"/>
                <a:cs typeface="Arial" panose="020B0604020202020204" pitchFamily="34" charset="0"/>
              </a:rPr>
              <a:t>ân giảng viên hướng dẫn</a:t>
            </a:r>
            <a:endParaRPr lang="en-US" b="1" dirty="0">
              <a:latin typeface="Arial" panose="020B0604020202020204" pitchFamily="34" charset="0"/>
              <a:cs typeface="Arial" panose="020B0604020202020204" pitchFamily="34" charset="0"/>
            </a:endParaRPr>
          </a:p>
        </p:txBody>
      </p:sp>
      <p:sp>
        <p:nvSpPr>
          <p:cNvPr id="7" name="Rectangle 6"/>
          <p:cNvSpPr/>
          <p:nvPr/>
        </p:nvSpPr>
        <p:spPr>
          <a:xfrm>
            <a:off x="1251784" y="2002222"/>
            <a:ext cx="6709367" cy="646331"/>
          </a:xfrm>
          <a:prstGeom prst="rect">
            <a:avLst/>
          </a:prstGeom>
        </p:spPr>
        <p:txBody>
          <a:bodyPr wrap="square">
            <a:spAutoFit/>
          </a:bodyPr>
          <a:lstStyle/>
          <a:p>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Em </a:t>
            </a:r>
            <a:r>
              <a:rPr lang="vi-VN" i="1" dirty="0">
                <a:latin typeface="Arial" panose="020B0604020202020204" pitchFamily="34" charset="0"/>
                <a:cs typeface="Arial" panose="020B0604020202020204" pitchFamily="34" charset="0"/>
              </a:rPr>
              <a:t>xin chân thành cảm ơn Thầy TS. Đoàn Phước Miền đã phụ trách giảng dạy và hướng dẫn thông qua các video bài giảng.</a:t>
            </a:r>
            <a:endParaRPr lang="en-US" i="1" dirty="0">
              <a:latin typeface="Arial" panose="020B0604020202020204" pitchFamily="34" charset="0"/>
              <a:cs typeface="Arial" panose="020B0604020202020204" pitchFamily="34" charset="0"/>
            </a:endParaRPr>
          </a:p>
        </p:txBody>
      </p:sp>
      <p:sp>
        <p:nvSpPr>
          <p:cNvPr id="8" name="Rectangle 7"/>
          <p:cNvSpPr/>
          <p:nvPr/>
        </p:nvSpPr>
        <p:spPr>
          <a:xfrm>
            <a:off x="963551" y="2672962"/>
            <a:ext cx="2531462" cy="369332"/>
          </a:xfrm>
          <a:prstGeom prst="rect">
            <a:avLst/>
          </a:prstGeom>
        </p:spPr>
        <p:txBody>
          <a:bodyPr wrap="none">
            <a:spAutoFit/>
          </a:bodyPr>
          <a:lstStyle/>
          <a:p>
            <a:r>
              <a:rPr lang="en-US" b="1" dirty="0" smtClean="0">
                <a:latin typeface="Arial" panose="020B0604020202020204" pitchFamily="34" charset="0"/>
                <a:cs typeface="Arial" panose="020B0604020202020204" pitchFamily="34" charset="0"/>
              </a:rPr>
              <a:t>2. </a:t>
            </a:r>
            <a:r>
              <a:rPr lang="en-US" b="1" dirty="0" err="1" smtClean="0">
                <a:latin typeface="Arial" panose="020B0604020202020204" pitchFamily="34" charset="0"/>
                <a:cs typeface="Arial" panose="020B0604020202020204" pitchFamily="34" charset="0"/>
              </a:rPr>
              <a:t>Nền</a:t>
            </a:r>
            <a:r>
              <a:rPr lang="en-US" b="1" dirty="0" smtClean="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tảng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kiến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thức</a:t>
            </a:r>
            <a:endParaRPr lang="en-US" b="1" dirty="0">
              <a:latin typeface="Arial" panose="020B0604020202020204" pitchFamily="34" charset="0"/>
              <a:cs typeface="Arial" panose="020B0604020202020204" pitchFamily="34" charset="0"/>
            </a:endParaRPr>
          </a:p>
        </p:txBody>
      </p:sp>
      <p:sp>
        <p:nvSpPr>
          <p:cNvPr id="9" name="Rectangle 8"/>
          <p:cNvSpPr/>
          <p:nvPr/>
        </p:nvSpPr>
        <p:spPr>
          <a:xfrm>
            <a:off x="1251784" y="3100665"/>
            <a:ext cx="6096000" cy="646331"/>
          </a:xfrm>
          <a:prstGeom prst="rect">
            <a:avLst/>
          </a:prstGeom>
        </p:spPr>
        <p:txBody>
          <a:bodyPr>
            <a:spAutoFit/>
          </a:bodyPr>
          <a:lstStyle/>
          <a:p>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Các </a:t>
            </a:r>
            <a:r>
              <a:rPr lang="vi-VN" i="1" dirty="0">
                <a:latin typeface="Arial" panose="020B0604020202020204" pitchFamily="34" charset="0"/>
                <a:cs typeface="Arial" panose="020B0604020202020204" pitchFamily="34" charset="0"/>
              </a:rPr>
              <a:t>nội dung bài giảng giúp em có nền tảng kiến thức cần thiết và định hướng rõ ràng.</a:t>
            </a:r>
            <a:endParaRPr lang="en-US" i="1" dirty="0">
              <a:latin typeface="Arial" panose="020B0604020202020204" pitchFamily="34" charset="0"/>
              <a:cs typeface="Arial" panose="020B0604020202020204" pitchFamily="34" charset="0"/>
            </a:endParaRPr>
          </a:p>
        </p:txBody>
      </p:sp>
      <p:sp>
        <p:nvSpPr>
          <p:cNvPr id="10" name="Rectangle 9"/>
          <p:cNvSpPr/>
          <p:nvPr/>
        </p:nvSpPr>
        <p:spPr>
          <a:xfrm>
            <a:off x="963551" y="3805367"/>
            <a:ext cx="2095445" cy="369332"/>
          </a:xfrm>
          <a:prstGeom prst="rect">
            <a:avLst/>
          </a:prstGeom>
        </p:spPr>
        <p:txBody>
          <a:bodyPr wrap="none">
            <a:spAutoFit/>
          </a:bodyPr>
          <a:lstStyle/>
          <a:p>
            <a:r>
              <a:rPr lang="en-US" b="1" dirty="0" smtClean="0">
                <a:latin typeface="Arial" panose="020B0604020202020204" pitchFamily="34" charset="0"/>
                <a:cs typeface="Arial" panose="020B0604020202020204" pitchFamily="34" charset="0"/>
              </a:rPr>
              <a:t>3. </a:t>
            </a:r>
            <a:r>
              <a:rPr lang="en-US" b="1" dirty="0" err="1" smtClean="0">
                <a:latin typeface="Arial" panose="020B0604020202020204" pitchFamily="34" charset="0"/>
                <a:cs typeface="Arial" panose="020B0604020202020204" pitchFamily="34" charset="0"/>
              </a:rPr>
              <a:t>Ví</a:t>
            </a:r>
            <a:r>
              <a:rPr lang="en-US" b="1" dirty="0" smtClean="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dụ</a:t>
            </a:r>
            <a:r>
              <a:rPr lang="en-US" b="1" dirty="0">
                <a:latin typeface="Arial" panose="020B0604020202020204" pitchFamily="34" charset="0"/>
                <a:cs typeface="Arial" panose="020B0604020202020204" pitchFamily="34" charset="0"/>
              </a:rPr>
              <a:t> minh </a:t>
            </a:r>
            <a:r>
              <a:rPr lang="en-US" b="1" dirty="0" err="1">
                <a:latin typeface="Arial" panose="020B0604020202020204" pitchFamily="34" charset="0"/>
                <a:cs typeface="Arial" panose="020B0604020202020204" pitchFamily="34" charset="0"/>
              </a:rPr>
              <a:t>họa</a:t>
            </a:r>
            <a:endParaRPr lang="en-US" b="1" dirty="0">
              <a:latin typeface="Arial" panose="020B0604020202020204" pitchFamily="34" charset="0"/>
              <a:cs typeface="Arial" panose="020B0604020202020204" pitchFamily="34" charset="0"/>
            </a:endParaRPr>
          </a:p>
        </p:txBody>
      </p:sp>
      <p:sp>
        <p:nvSpPr>
          <p:cNvPr id="11" name="Rectangle 10"/>
          <p:cNvSpPr/>
          <p:nvPr/>
        </p:nvSpPr>
        <p:spPr>
          <a:xfrm>
            <a:off x="1251784" y="4203450"/>
            <a:ext cx="6096000" cy="646331"/>
          </a:xfrm>
          <a:prstGeom prst="rect">
            <a:avLst/>
          </a:prstGeom>
        </p:spPr>
        <p:txBody>
          <a:bodyPr>
            <a:spAutoFit/>
          </a:bodyPr>
          <a:lstStyle/>
          <a:p>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Những </a:t>
            </a:r>
            <a:r>
              <a:rPr lang="vi-VN" i="1" dirty="0">
                <a:latin typeface="Arial" panose="020B0604020202020204" pitchFamily="34" charset="0"/>
                <a:cs typeface="Arial" panose="020B0604020202020204" pitchFamily="34" charset="0"/>
              </a:rPr>
              <a:t>ví dụ minh họa giúp em dễ dàng tiếp cận vấn đề, chủ động hơn trong việc tìm hiểu và hoàn thiện báo cáo.</a:t>
            </a:r>
            <a:endParaRPr lang="en-US" i="1" dirty="0">
              <a:latin typeface="Arial" panose="020B0604020202020204" pitchFamily="34" charset="0"/>
              <a:cs typeface="Arial" panose="020B0604020202020204" pitchFamily="34" charset="0"/>
            </a:endParaRPr>
          </a:p>
        </p:txBody>
      </p:sp>
      <p:sp>
        <p:nvSpPr>
          <p:cNvPr id="12" name="Rectangle 11"/>
          <p:cNvSpPr/>
          <p:nvPr/>
        </p:nvSpPr>
        <p:spPr>
          <a:xfrm>
            <a:off x="963551" y="4849781"/>
            <a:ext cx="2775119" cy="369332"/>
          </a:xfrm>
          <a:prstGeom prst="rect">
            <a:avLst/>
          </a:prstGeom>
        </p:spPr>
        <p:txBody>
          <a:bodyPr wrap="none">
            <a:spAutoFit/>
          </a:bodyPr>
          <a:lstStyle/>
          <a:p>
            <a:r>
              <a:rPr lang="en-US" b="1" dirty="0" smtClean="0">
                <a:solidFill>
                  <a:srgbClr val="0A0D17"/>
                </a:solidFill>
                <a:latin typeface="Arial" panose="020B0604020202020204" pitchFamily="34" charset="0"/>
                <a:cs typeface="Arial" panose="020B0604020202020204" pitchFamily="34" charset="0"/>
              </a:rPr>
              <a:t>4. </a:t>
            </a:r>
            <a:r>
              <a:rPr lang="en-US" b="1" dirty="0" err="1" smtClean="0">
                <a:solidFill>
                  <a:srgbClr val="0A0D17"/>
                </a:solidFill>
                <a:latin typeface="Arial" panose="020B0604020202020204" pitchFamily="34" charset="0"/>
                <a:cs typeface="Arial" panose="020B0604020202020204" pitchFamily="34" charset="0"/>
              </a:rPr>
              <a:t>Kỹ</a:t>
            </a:r>
            <a:r>
              <a:rPr lang="en-US" b="1" dirty="0" smtClean="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năng</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chuyên</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môn</a:t>
            </a:r>
            <a:endParaRPr lang="en-US" b="1" dirty="0">
              <a:latin typeface="Arial" panose="020B0604020202020204" pitchFamily="34" charset="0"/>
              <a:cs typeface="Arial" panose="020B0604020202020204" pitchFamily="34" charset="0"/>
            </a:endParaRPr>
          </a:p>
        </p:txBody>
      </p:sp>
      <p:sp>
        <p:nvSpPr>
          <p:cNvPr id="13" name="Rectangle 12"/>
          <p:cNvSpPr/>
          <p:nvPr/>
        </p:nvSpPr>
        <p:spPr>
          <a:xfrm>
            <a:off x="1251784" y="5247864"/>
            <a:ext cx="6096000" cy="646331"/>
          </a:xfrm>
          <a:prstGeom prst="rect">
            <a:avLst/>
          </a:prstGeom>
        </p:spPr>
        <p:txBody>
          <a:bodyPr>
            <a:spAutoFit/>
          </a:bodyPr>
          <a:lstStyle/>
          <a:p>
            <a:r>
              <a:rPr lang="en-US" i="1" dirty="0" smtClean="0">
                <a:latin typeface="Arial" panose="020B0604020202020204" pitchFamily="34" charset="0"/>
                <a:cs typeface="Arial" panose="020B0604020202020204" pitchFamily="34" charset="0"/>
              </a:rPr>
              <a:t>- </a:t>
            </a:r>
            <a:r>
              <a:rPr lang="en-US" i="1" dirty="0" err="1" smtClean="0">
                <a:latin typeface="Arial" panose="020B0604020202020204" pitchFamily="34" charset="0"/>
                <a:cs typeface="Arial" panose="020B0604020202020204" pitchFamily="34" charset="0"/>
              </a:rPr>
              <a:t>Quá</a:t>
            </a:r>
            <a:r>
              <a:rPr lang="en-US" i="1" dirty="0" smtClean="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trình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thực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hiện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giúp</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em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củng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cố</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kiến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thức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chuyên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môn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rèn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luyện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kỹ</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năng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tự</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học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xử</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lý</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thông</a:t>
            </a:r>
            <a:r>
              <a:rPr lang="en-US" i="1" dirty="0">
                <a:latin typeface="Arial" panose="020B0604020202020204" pitchFamily="34" charset="0"/>
                <a:cs typeface="Arial" panose="020B0604020202020204" pitchFamily="34" charset="0"/>
              </a:rPr>
              <a:t> tin.</a:t>
            </a:r>
          </a:p>
        </p:txBody>
      </p:sp>
    </p:spTree>
    <p:extLst>
      <p:ext uri="{BB962C8B-B14F-4D97-AF65-F5344CB8AC3E}">
        <p14:creationId xmlns:p14="http://schemas.microsoft.com/office/powerpoint/2010/main" val="14524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9" grpId="0"/>
      <p:bldP spid="10" grpId="0"/>
      <p:bldP spid="11"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385" y="534100"/>
            <a:ext cx="9011951" cy="1319867"/>
          </a:xfrm>
        </p:spPr>
        <p:txBody>
          <a:bodyPr/>
          <a:lstStyle/>
          <a:p>
            <a:pPr marL="571500" indent="-571500" algn="ctr">
              <a:buFont typeface="Wingdings" panose="05000000000000000000" pitchFamily="2" charset="2"/>
              <a:buChar char="v"/>
            </a:pP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do </a:t>
            </a:r>
            <a:r>
              <a:rPr lang="en-US" dirty="0" err="1">
                <a:latin typeface="Arial" panose="020B0604020202020204" pitchFamily="34" charset="0"/>
                <a:cs typeface="Arial" panose="020B0604020202020204" pitchFamily="34" charset="0"/>
              </a:rPr>
              <a:t>chọn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dựng</a:t>
            </a:r>
            <a:r>
              <a:rPr lang="en-US" dirty="0">
                <a:latin typeface="Arial" panose="020B0604020202020204" pitchFamily="34" charset="0"/>
                <a:cs typeface="Arial" panose="020B0604020202020204" pitchFamily="34" charset="0"/>
              </a:rPr>
              <a:t> website </a:t>
            </a:r>
            <a:r>
              <a:rPr lang="en-US" dirty="0" err="1">
                <a:latin typeface="Arial" panose="020B0604020202020204" pitchFamily="34" charset="0"/>
                <a:cs typeface="Arial" panose="020B0604020202020204" pitchFamily="34" charset="0"/>
              </a:rPr>
              <a:t>bán</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sản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phẩm</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công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nghệ</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Apple</a:t>
            </a:r>
          </a:p>
        </p:txBody>
      </p:sp>
      <p:sp>
        <p:nvSpPr>
          <p:cNvPr id="3" name="Content Placeholder 2"/>
          <p:cNvSpPr>
            <a:spLocks noGrp="1"/>
          </p:cNvSpPr>
          <p:nvPr>
            <p:ph idx="1"/>
          </p:nvPr>
        </p:nvSpPr>
        <p:spPr>
          <a:xfrm>
            <a:off x="700415" y="2051532"/>
            <a:ext cx="9743877" cy="3880773"/>
          </a:xfrm>
        </p:spPr>
        <p:txBody>
          <a:bodyPr>
            <a:normAutofit lnSpcReduction="10000"/>
          </a:bodyPr>
          <a:lstStyle/>
          <a:p>
            <a:r>
              <a:rPr lang="en-US" dirty="0" err="1">
                <a:latin typeface="Arial" panose="020B0604020202020204" pitchFamily="34" charset="0"/>
                <a:cs typeface="Arial" panose="020B0604020202020204" pitchFamily="34" charset="0"/>
              </a:rPr>
              <a:t>Tăng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suất</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quản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lý</a:t>
            </a:r>
            <a:endParaRPr lang="en-US" dirty="0" smtClean="0">
              <a:latin typeface="Arial" panose="020B0604020202020204" pitchFamily="34" charset="0"/>
              <a:cs typeface="Arial" panose="020B0604020202020204" pitchFamily="34" charset="0"/>
            </a:endParaRPr>
          </a:p>
          <a:p>
            <a:pPr marL="0" indent="0">
              <a:buNone/>
            </a:pPr>
            <a:r>
              <a:rPr lang="en-US" i="1" dirty="0" smtClean="0">
                <a:latin typeface="Arial" panose="020B0604020202020204" pitchFamily="34" charset="0"/>
                <a:cs typeface="Arial" panose="020B0604020202020204" pitchFamily="34" charset="0"/>
              </a:rPr>
              <a:t>	- </a:t>
            </a:r>
            <a:r>
              <a:rPr lang="vi-VN" i="1" dirty="0">
                <a:latin typeface="Arial" panose="020B0604020202020204" pitchFamily="34" charset="0"/>
                <a:cs typeface="Arial" panose="020B0604020202020204" pitchFamily="34" charset="0"/>
              </a:rPr>
              <a:t>Tự động hóa quy trình ghi chép đơn hàng, quản lý kho và theo dõi khách hàng</a:t>
            </a:r>
            <a:r>
              <a:rPr lang="vi-VN" i="1"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Tối ưu hóa quy </a:t>
            </a:r>
            <a:r>
              <a:rPr lang="vi-VN" dirty="0" smtClean="0">
                <a:latin typeface="Arial" panose="020B0604020202020204" pitchFamily="34" charset="0"/>
                <a:cs typeface="Arial" panose="020B0604020202020204" pitchFamily="34" charset="0"/>
              </a:rPr>
              <a:t>trình</a:t>
            </a:r>
            <a:endParaRPr lang="en-US" dirty="0" smtClean="0">
              <a:latin typeface="Arial" panose="020B0604020202020204" pitchFamily="34" charset="0"/>
              <a:cs typeface="Arial" panose="020B0604020202020204" pitchFamily="34" charset="0"/>
            </a:endParaRPr>
          </a:p>
          <a:p>
            <a:pPr marL="0" indent="0">
              <a:buNone/>
            </a:pPr>
            <a:r>
              <a:rPr lang="en-US" dirty="0" smtClean="0">
                <a:latin typeface="Arial" panose="020B0604020202020204" pitchFamily="34" charset="0"/>
                <a:cs typeface="Arial" panose="020B0604020202020204" pitchFamily="34" charset="0"/>
              </a:rPr>
              <a:t>	</a:t>
            </a:r>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Đặt </a:t>
            </a:r>
            <a:r>
              <a:rPr lang="vi-VN" i="1" dirty="0">
                <a:latin typeface="Arial" panose="020B0604020202020204" pitchFamily="34" charset="0"/>
                <a:cs typeface="Arial" panose="020B0604020202020204" pitchFamily="34" charset="0"/>
              </a:rPr>
              <a:t>hàng, thanh toán, xuất hóa đơn và cập nhật tồn kho nhanh chóng, chính xác.</a:t>
            </a:r>
            <a:endParaRPr lang="en-US" i="1" dirty="0" smtClean="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Nâng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trải</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nghiệm</a:t>
            </a:r>
            <a:endParaRPr lang="en-US" dirty="0" smtClean="0">
              <a:latin typeface="Arial" panose="020B0604020202020204" pitchFamily="34" charset="0"/>
              <a:cs typeface="Arial" panose="020B0604020202020204" pitchFamily="34" charset="0"/>
            </a:endParaRPr>
          </a:p>
          <a:p>
            <a:pPr marL="0" indent="0">
              <a:buNone/>
            </a:pPr>
            <a:r>
              <a:rPr lang="en-US" dirty="0" smtClean="0">
                <a:latin typeface="Arial" panose="020B0604020202020204" pitchFamily="34" charset="0"/>
                <a:cs typeface="Arial" panose="020B0604020202020204" pitchFamily="34" charset="0"/>
              </a:rPr>
              <a:t>	</a:t>
            </a:r>
            <a:r>
              <a:rPr lang="en-US" i="1" dirty="0" smtClean="0">
                <a:latin typeface="Arial" panose="020B0604020202020204" pitchFamily="34" charset="0"/>
                <a:cs typeface="Arial" panose="020B0604020202020204" pitchFamily="34" charset="0"/>
              </a:rPr>
              <a:t>- </a:t>
            </a:r>
            <a:r>
              <a:rPr lang="en-US" i="1" dirty="0" err="1" smtClean="0">
                <a:latin typeface="Arial" panose="020B0604020202020204" pitchFamily="34" charset="0"/>
                <a:cs typeface="Arial" panose="020B0604020202020204" pitchFamily="34" charset="0"/>
              </a:rPr>
              <a:t>Khách</a:t>
            </a:r>
            <a:r>
              <a:rPr lang="en-US" i="1" dirty="0" smtClean="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hàng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dễ</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dàng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tìm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kiếm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xem</a:t>
            </a:r>
            <a:r>
              <a:rPr lang="en-US" i="1" dirty="0">
                <a:latin typeface="Arial" panose="020B0604020202020204" pitchFamily="34" charset="0"/>
                <a:cs typeface="Arial" panose="020B0604020202020204" pitchFamily="34" charset="0"/>
              </a:rPr>
              <a:t> chi </a:t>
            </a:r>
            <a:r>
              <a:rPr lang="en-US" i="1" dirty="0" err="1">
                <a:latin typeface="Arial" panose="020B0604020202020204" pitchFamily="34" charset="0"/>
                <a:cs typeface="Arial" panose="020B0604020202020204" pitchFamily="34" charset="0"/>
              </a:rPr>
              <a:t>tiết</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đặt</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hàng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trực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tuyến</a:t>
            </a:r>
            <a:r>
              <a:rPr lang="en-US" i="1" dirty="0">
                <a:latin typeface="Arial" panose="020B0604020202020204" pitchFamily="34" charset="0"/>
                <a:cs typeface="Arial" panose="020B0604020202020204" pitchFamily="34" charset="0"/>
              </a:rPr>
              <a:t>.</a:t>
            </a:r>
            <a:endParaRPr lang="en-US" i="1" dirty="0" smtClean="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Quảng bá thương </a:t>
            </a:r>
            <a:r>
              <a:rPr lang="vi-VN" dirty="0" smtClean="0">
                <a:latin typeface="Arial" panose="020B0604020202020204" pitchFamily="34" charset="0"/>
                <a:cs typeface="Arial" panose="020B0604020202020204" pitchFamily="34" charset="0"/>
              </a:rPr>
              <a:t>hiệu</a:t>
            </a:r>
            <a:endParaRPr lang="en-US" dirty="0" smtClean="0">
              <a:latin typeface="Arial" panose="020B0604020202020204" pitchFamily="34" charset="0"/>
              <a:cs typeface="Arial" panose="020B0604020202020204" pitchFamily="34" charset="0"/>
            </a:endParaRPr>
          </a:p>
          <a:p>
            <a:pPr marL="0" indent="0">
              <a:buNone/>
            </a:pPr>
            <a:r>
              <a:rPr lang="en-US" dirty="0" smtClean="0">
                <a:latin typeface="Arial" panose="020B0604020202020204" pitchFamily="34" charset="0"/>
                <a:cs typeface="Arial" panose="020B0604020202020204" pitchFamily="34" charset="0"/>
              </a:rPr>
              <a:t>	</a:t>
            </a:r>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Website </a:t>
            </a:r>
            <a:r>
              <a:rPr lang="vi-VN" i="1" dirty="0">
                <a:latin typeface="Arial" panose="020B0604020202020204" pitchFamily="34" charset="0"/>
                <a:cs typeface="Arial" panose="020B0604020202020204" pitchFamily="34" charset="0"/>
              </a:rPr>
              <a:t>chuyên nghiệp giúp giới thiệu sản phẩm và tạo sự tin tưởng.</a:t>
            </a:r>
            <a:endParaRPr lang="en-US" i="1" dirty="0" smtClean="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Cạnh tranh thị trường</a:t>
            </a:r>
            <a:endParaRPr lang="en-US" dirty="0" smtClean="0">
              <a:latin typeface="Arial" panose="020B0604020202020204" pitchFamily="34" charset="0"/>
              <a:cs typeface="Arial" panose="020B0604020202020204" pitchFamily="34" charset="0"/>
            </a:endParaRPr>
          </a:p>
          <a:p>
            <a:pPr marL="0" indent="0">
              <a:buNone/>
            </a:pPr>
            <a:r>
              <a:rPr lang="en-US" dirty="0" smtClean="0">
                <a:latin typeface="Arial" panose="020B0604020202020204" pitchFamily="34" charset="0"/>
                <a:cs typeface="Arial" panose="020B0604020202020204" pitchFamily="34" charset="0"/>
              </a:rPr>
              <a:t>	</a:t>
            </a:r>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Theo </a:t>
            </a:r>
            <a:r>
              <a:rPr lang="vi-VN" i="1" dirty="0">
                <a:latin typeface="Arial" panose="020B0604020202020204" pitchFamily="34" charset="0"/>
                <a:cs typeface="Arial" panose="020B0604020202020204" pitchFamily="34" charset="0"/>
              </a:rPr>
              <a:t>kịp xu hướng công nghệ và nâng cao khả năng cạnh tranh lâu dài.</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361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500"/>
                                        <p:tgtEl>
                                          <p:spTgt spid="3">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fade">
                                      <p:cBhvr>
                                        <p:cTn id="50" dur="500"/>
                                        <p:tgtEl>
                                          <p:spTgt spid="3">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Effect transition="in" filter="fade">
                                      <p:cBhvr>
                                        <p:cTn id="5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14" y="276837"/>
            <a:ext cx="9330734" cy="1863289"/>
          </a:xfrm>
        </p:spPr>
        <p:txBody>
          <a:bodyPr>
            <a:normAutofit/>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Phạm</a:t>
            </a:r>
            <a:r>
              <a:rPr lang="en-US" dirty="0">
                <a:latin typeface="Arial" panose="020B0604020202020204" pitchFamily="34" charset="0"/>
                <a:cs typeface="Arial" panose="020B0604020202020204" pitchFamily="34" charset="0"/>
              </a:rPr>
              <a:t> vi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của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hệ</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thống</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vi-VN" sz="1800" i="1" dirty="0">
                <a:latin typeface="+mn-lt"/>
              </a:rPr>
              <a:t>Xây dựng hệ thống cơ bản phục vụ quản lý và bán hàng trực tuyến sản phẩm công nghệ</a:t>
            </a:r>
            <a:endParaRPr lang="en-US" sz="1800" i="1" dirty="0">
              <a:latin typeface="+mn-lt"/>
              <a:cs typeface="Arial" panose="020B0604020202020204" pitchFamily="34" charset="0"/>
            </a:endParaRPr>
          </a:p>
        </p:txBody>
      </p:sp>
      <p:sp>
        <p:nvSpPr>
          <p:cNvPr id="3" name="Content Placeholder 2"/>
          <p:cNvSpPr>
            <a:spLocks noGrp="1"/>
          </p:cNvSpPr>
          <p:nvPr>
            <p:ph idx="1"/>
          </p:nvPr>
        </p:nvSpPr>
        <p:spPr>
          <a:xfrm>
            <a:off x="1633679" y="2395481"/>
            <a:ext cx="3508772" cy="1597678"/>
          </a:xfrm>
          <a:ln>
            <a:solidFill>
              <a:schemeClr val="accent1"/>
            </a:solidFill>
          </a:ln>
        </p:spPr>
        <p:txBody>
          <a:bodyPr>
            <a:normAutofit/>
          </a:bodyPr>
          <a:lstStyle/>
          <a:p>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sản</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phẩm</a:t>
            </a:r>
            <a:endParaRPr lang="en-US" dirty="0" smtClean="0">
              <a:latin typeface="Arial" panose="020B0604020202020204" pitchFamily="34" charset="0"/>
              <a:cs typeface="Arial" panose="020B0604020202020204" pitchFamily="34" charset="0"/>
            </a:endParaRPr>
          </a:p>
          <a:p>
            <a:pPr marL="0" indent="0">
              <a:buNone/>
            </a:pPr>
            <a:r>
              <a:rPr lang="en-US" i="1" dirty="0" err="1">
                <a:latin typeface="Arial" panose="020B0604020202020204" pitchFamily="34" charset="0"/>
                <a:cs typeface="Arial" panose="020B0604020202020204" pitchFamily="34" charset="0"/>
              </a:rPr>
              <a:t>Thêm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sửa</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xóa</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thông</a:t>
            </a:r>
            <a:r>
              <a:rPr lang="en-US" i="1" dirty="0">
                <a:latin typeface="Arial" panose="020B0604020202020204" pitchFamily="34" charset="0"/>
                <a:cs typeface="Arial" panose="020B0604020202020204" pitchFamily="34" charset="0"/>
              </a:rPr>
              <a:t> tin </a:t>
            </a:r>
            <a:r>
              <a:rPr lang="en-US" i="1" dirty="0" err="1">
                <a:latin typeface="Arial" panose="020B0604020202020204" pitchFamily="34" charset="0"/>
                <a:cs typeface="Arial" panose="020B0604020202020204" pitchFamily="34" charset="0"/>
              </a:rPr>
              <a:t>tên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hình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ảnh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mô</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tả</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giá</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tồn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kho</a:t>
            </a:r>
            <a:r>
              <a:rPr lang="en-US" i="1" dirty="0">
                <a:latin typeface="Arial" panose="020B0604020202020204" pitchFamily="34" charset="0"/>
                <a:cs typeface="Arial" panose="020B0604020202020204" pitchFamily="34" charset="0"/>
              </a:rPr>
              <a:t>.</a:t>
            </a:r>
          </a:p>
        </p:txBody>
      </p:sp>
      <p:sp>
        <p:nvSpPr>
          <p:cNvPr id="5" name="Content Placeholder 2"/>
          <p:cNvSpPr txBox="1">
            <a:spLocks/>
          </p:cNvSpPr>
          <p:nvPr/>
        </p:nvSpPr>
        <p:spPr>
          <a:xfrm>
            <a:off x="5317844" y="2395481"/>
            <a:ext cx="3792600" cy="1597678"/>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vi-VN" dirty="0">
                <a:solidFill>
                  <a:srgbClr val="0A0D17"/>
                </a:solidFill>
              </a:rPr>
              <a:t>Quản lý đơn hàng</a:t>
            </a:r>
            <a:endParaRPr lang="en-US" dirty="0"/>
          </a:p>
          <a:p>
            <a:pPr marL="0" indent="0">
              <a:buNone/>
            </a:pPr>
            <a:r>
              <a:rPr lang="en-US" i="1" dirty="0"/>
              <a:t>Theo </a:t>
            </a:r>
            <a:r>
              <a:rPr lang="en-US" i="1" dirty="0" err="1"/>
              <a:t>dõi</a:t>
            </a:r>
            <a:r>
              <a:rPr lang="en-US" i="1" dirty="0"/>
              <a:t> chi </a:t>
            </a:r>
            <a:r>
              <a:rPr lang="en-US" i="1" dirty="0" err="1"/>
              <a:t>tiết</a:t>
            </a:r>
            <a:r>
              <a:rPr lang="en-US" i="1" dirty="0"/>
              <a:t>, </a:t>
            </a:r>
            <a:r>
              <a:rPr lang="en-US" i="1" dirty="0" err="1"/>
              <a:t>trạng</a:t>
            </a:r>
            <a:r>
              <a:rPr lang="en-US" i="1" dirty="0"/>
              <a:t> </a:t>
            </a:r>
            <a:r>
              <a:rPr lang="en-US" i="1" dirty="0" err="1"/>
              <a:t>thái</a:t>
            </a:r>
            <a:r>
              <a:rPr lang="en-US" i="1" dirty="0"/>
              <a:t> </a:t>
            </a:r>
            <a:r>
              <a:rPr lang="en-US" i="1" dirty="0" err="1"/>
              <a:t>thanh</a:t>
            </a:r>
            <a:r>
              <a:rPr lang="en-US" i="1" dirty="0"/>
              <a:t> </a:t>
            </a:r>
            <a:r>
              <a:rPr lang="en-US" i="1" dirty="0" err="1"/>
              <a:t>toán</a:t>
            </a:r>
            <a:r>
              <a:rPr lang="en-US" i="1" dirty="0"/>
              <a:t> </a:t>
            </a:r>
            <a:r>
              <a:rPr lang="en-US" i="1" dirty="0" err="1"/>
              <a:t>và</a:t>
            </a:r>
            <a:r>
              <a:rPr lang="en-US" i="1" dirty="0"/>
              <a:t> </a:t>
            </a:r>
            <a:r>
              <a:rPr lang="en-US" i="1" dirty="0" err="1"/>
              <a:t>tình</a:t>
            </a:r>
            <a:r>
              <a:rPr lang="en-US" i="1" dirty="0"/>
              <a:t> </a:t>
            </a:r>
            <a:r>
              <a:rPr lang="en-US" i="1" dirty="0" err="1"/>
              <a:t>trạng</a:t>
            </a:r>
            <a:r>
              <a:rPr lang="en-US" i="1" dirty="0"/>
              <a:t> </a:t>
            </a:r>
            <a:r>
              <a:rPr lang="en-US" i="1" dirty="0" err="1"/>
              <a:t>giao</a:t>
            </a:r>
            <a:r>
              <a:rPr lang="en-US" i="1" dirty="0"/>
              <a:t> </a:t>
            </a:r>
            <a:r>
              <a:rPr lang="en-US" i="1" dirty="0" err="1"/>
              <a:t>hàng</a:t>
            </a:r>
            <a:r>
              <a:rPr lang="en-US" i="1" dirty="0"/>
              <a:t>.</a:t>
            </a:r>
            <a:endParaRPr lang="en-US" i="1" dirty="0">
              <a:cs typeface="Arial" panose="020B0604020202020204" pitchFamily="34" charset="0"/>
            </a:endParaRPr>
          </a:p>
        </p:txBody>
      </p:sp>
      <p:sp>
        <p:nvSpPr>
          <p:cNvPr id="7" name="Content Placeholder 2"/>
          <p:cNvSpPr txBox="1">
            <a:spLocks/>
          </p:cNvSpPr>
          <p:nvPr/>
        </p:nvSpPr>
        <p:spPr>
          <a:xfrm>
            <a:off x="1633679" y="4158950"/>
            <a:ext cx="3508772" cy="1597678"/>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err="1">
                <a:solidFill>
                  <a:srgbClr val="0A0D17"/>
                </a:solidFill>
                <a:latin typeface="Lexend"/>
              </a:rPr>
              <a:t>Quản</a:t>
            </a:r>
            <a:r>
              <a:rPr lang="en-US" dirty="0">
                <a:solidFill>
                  <a:srgbClr val="0A0D17"/>
                </a:solidFill>
                <a:latin typeface="Lexend"/>
              </a:rPr>
              <a:t> </a:t>
            </a:r>
            <a:r>
              <a:rPr lang="en-US" dirty="0" err="1">
                <a:solidFill>
                  <a:srgbClr val="0A0D17"/>
                </a:solidFill>
                <a:latin typeface="Lexend"/>
              </a:rPr>
              <a:t>lý</a:t>
            </a:r>
            <a:r>
              <a:rPr lang="en-US" dirty="0">
                <a:solidFill>
                  <a:srgbClr val="0A0D17"/>
                </a:solidFill>
                <a:latin typeface="Lexend"/>
              </a:rPr>
              <a:t> </a:t>
            </a:r>
            <a:r>
              <a:rPr lang="en-US" dirty="0" err="1">
                <a:solidFill>
                  <a:srgbClr val="0A0D17"/>
                </a:solidFill>
                <a:latin typeface="Lexend"/>
              </a:rPr>
              <a:t>kho</a:t>
            </a:r>
            <a:r>
              <a:rPr lang="en-US" dirty="0">
                <a:solidFill>
                  <a:srgbClr val="0A0D17"/>
                </a:solidFill>
                <a:latin typeface="Lexend"/>
              </a:rPr>
              <a:t> &amp; </a:t>
            </a:r>
            <a:r>
              <a:rPr lang="en-US" dirty="0" err="1">
                <a:solidFill>
                  <a:srgbClr val="0A0D17"/>
                </a:solidFill>
                <a:latin typeface="Lexend"/>
              </a:rPr>
              <a:t>giao</a:t>
            </a:r>
            <a:r>
              <a:rPr lang="en-US" dirty="0">
                <a:solidFill>
                  <a:srgbClr val="0A0D17"/>
                </a:solidFill>
                <a:latin typeface="Lexend"/>
              </a:rPr>
              <a:t> </a:t>
            </a:r>
            <a:r>
              <a:rPr lang="en-US" dirty="0" err="1">
                <a:solidFill>
                  <a:srgbClr val="0A0D17"/>
                </a:solidFill>
                <a:latin typeface="Lexend"/>
              </a:rPr>
              <a:t>hàng</a:t>
            </a:r>
            <a:endParaRPr lang="en-US" dirty="0"/>
          </a:p>
          <a:p>
            <a:pPr marL="0" indent="0">
              <a:buNone/>
            </a:pPr>
            <a:r>
              <a:rPr lang="vi-VN" i="1" dirty="0"/>
              <a:t>Theo dõi số lượng, cảnh báo tồn thấp và cập nhật vận chuyển.</a:t>
            </a:r>
            <a:endParaRPr lang="en-US" i="1" dirty="0">
              <a:latin typeface="Arial" panose="020B0604020202020204" pitchFamily="34" charset="0"/>
              <a:cs typeface="Arial" panose="020B0604020202020204" pitchFamily="34" charset="0"/>
            </a:endParaRPr>
          </a:p>
        </p:txBody>
      </p:sp>
      <p:sp>
        <p:nvSpPr>
          <p:cNvPr id="8" name="Content Placeholder 2"/>
          <p:cNvSpPr txBox="1">
            <a:spLocks/>
          </p:cNvSpPr>
          <p:nvPr/>
        </p:nvSpPr>
        <p:spPr>
          <a:xfrm>
            <a:off x="5317844" y="4158950"/>
            <a:ext cx="3792600" cy="1597678"/>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err="1">
                <a:latin typeface="Arial" panose="020B0604020202020204" pitchFamily="34" charset="0"/>
                <a:cs typeface="Arial" panose="020B0604020202020204" pitchFamily="34" charset="0"/>
              </a:rPr>
              <a:t>Mua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tuyến</a:t>
            </a:r>
            <a:endParaRPr lang="en-US" dirty="0" smtClean="0">
              <a:latin typeface="Arial" panose="020B0604020202020204" pitchFamily="34" charset="0"/>
              <a:cs typeface="Arial" panose="020B0604020202020204" pitchFamily="34" charset="0"/>
            </a:endParaRPr>
          </a:p>
          <a:p>
            <a:pPr marL="0" indent="0">
              <a:buNone/>
            </a:pPr>
            <a:r>
              <a:rPr lang="en-US" i="1" dirty="0" err="1">
                <a:latin typeface="Arial" panose="020B0604020202020204" pitchFamily="34" charset="0"/>
                <a:cs typeface="Arial" panose="020B0604020202020204" pitchFamily="34" charset="0"/>
              </a:rPr>
              <a:t>Giỏ</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hàng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thanh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toán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trực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tiếp</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tìm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kiếm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quản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lý</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tài</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khoản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cá</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nhân</a:t>
            </a:r>
            <a:r>
              <a:rPr lang="en-US"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83102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9483"/>
            <a:ext cx="9766959" cy="1320800"/>
          </a:xfrm>
        </p:spPr>
        <p:txBody>
          <a:bodyPr>
            <a:normAutofit/>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tảng</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ASP.NET</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Công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nghệ</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phát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triển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ứng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dụng</a:t>
            </a:r>
            <a:r>
              <a:rPr lang="en-US" sz="1800" i="1" dirty="0">
                <a:latin typeface="Arial" panose="020B0604020202020204" pitchFamily="34" charset="0"/>
                <a:cs typeface="Arial" panose="020B0604020202020204" pitchFamily="34" charset="0"/>
              </a:rPr>
              <a:t> web </a:t>
            </a:r>
            <a:r>
              <a:rPr lang="en-US" sz="1800" i="1" dirty="0" err="1">
                <a:latin typeface="Arial" panose="020B0604020202020204" pitchFamily="34" charset="0"/>
                <a:cs typeface="Arial" panose="020B0604020202020204" pitchFamily="34" charset="0"/>
              </a:rPr>
              <a:t>mạnh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mẽ</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từ</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hệ</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sinh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thái</a:t>
            </a:r>
            <a:r>
              <a:rPr lang="en-US" sz="1800" i="1" dirty="0">
                <a:latin typeface="Arial" panose="020B0604020202020204" pitchFamily="34" charset="0"/>
                <a:cs typeface="Arial" panose="020B0604020202020204" pitchFamily="34" charset="0"/>
              </a:rPr>
              <a:t> .NET </a:t>
            </a:r>
            <a:r>
              <a:rPr lang="en-US" sz="1800" i="1" dirty="0" err="1">
                <a:latin typeface="Arial" panose="020B0604020202020204" pitchFamily="34" charset="0"/>
                <a:cs typeface="Arial" panose="020B0604020202020204" pitchFamily="34" charset="0"/>
              </a:rPr>
              <a:t>của</a:t>
            </a:r>
            <a:r>
              <a:rPr lang="en-US" sz="1800" i="1" dirty="0">
                <a:latin typeface="Arial" panose="020B0604020202020204" pitchFamily="34" charset="0"/>
                <a:cs typeface="Arial" panose="020B0604020202020204" pitchFamily="34" charset="0"/>
              </a:rPr>
              <a:t> Microsoft</a:t>
            </a:r>
          </a:p>
        </p:txBody>
      </p:sp>
      <p:sp>
        <p:nvSpPr>
          <p:cNvPr id="3" name="Content Placeholder 2"/>
          <p:cNvSpPr>
            <a:spLocks noGrp="1"/>
          </p:cNvSpPr>
          <p:nvPr>
            <p:ph idx="1"/>
          </p:nvPr>
        </p:nvSpPr>
        <p:spPr>
          <a:xfrm>
            <a:off x="2296410" y="1296524"/>
            <a:ext cx="4943290" cy="1195007"/>
          </a:xfrm>
          <a:ln>
            <a:solidFill>
              <a:schemeClr val="accent1"/>
            </a:solidFill>
          </a:ln>
        </p:spPr>
        <p:txBody>
          <a:bodyPr>
            <a:normAutofit/>
          </a:bodyPr>
          <a:lstStyle/>
          <a:p>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nghĩa</a:t>
            </a:r>
            <a:endParaRPr lang="en-US" dirty="0" smtClean="0">
              <a:latin typeface="Arial" panose="020B0604020202020204" pitchFamily="34" charset="0"/>
              <a:cs typeface="Arial" panose="020B0604020202020204" pitchFamily="34" charset="0"/>
            </a:endParaRPr>
          </a:p>
          <a:p>
            <a:pPr marL="0" indent="0">
              <a:buNone/>
            </a:pPr>
            <a:r>
              <a:rPr lang="en-US" i="1" dirty="0" err="1">
                <a:latin typeface="Arial" panose="020B0604020202020204" pitchFamily="34" charset="0"/>
                <a:cs typeface="Arial" panose="020B0604020202020204" pitchFamily="34" charset="0"/>
              </a:rPr>
              <a:t>Nền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tảng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cho</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phép</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tạo</a:t>
            </a:r>
            <a:r>
              <a:rPr lang="en-US" i="1" dirty="0">
                <a:latin typeface="Arial" panose="020B0604020202020204" pitchFamily="34" charset="0"/>
                <a:cs typeface="Arial" panose="020B0604020202020204" pitchFamily="34" charset="0"/>
              </a:rPr>
              <a:t> website </a:t>
            </a:r>
            <a:r>
              <a:rPr lang="en-US" i="1" dirty="0" err="1">
                <a:latin typeface="Arial" panose="020B0604020202020204" pitchFamily="34" charset="0"/>
                <a:cs typeface="Arial" panose="020B0604020202020204" pitchFamily="34" charset="0"/>
              </a:rPr>
              <a:t>động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hệ</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thống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quản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lý</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với</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hiệu</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năng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bảo</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mật</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tốt</a:t>
            </a:r>
            <a:r>
              <a:rPr lang="en-US" i="1" dirty="0">
                <a:latin typeface="Arial" panose="020B0604020202020204" pitchFamily="34" charset="0"/>
                <a:cs typeface="Arial" panose="020B0604020202020204" pitchFamily="34" charset="0"/>
              </a:rPr>
              <a:t>.</a:t>
            </a:r>
          </a:p>
        </p:txBody>
      </p:sp>
      <p:sp>
        <p:nvSpPr>
          <p:cNvPr id="4" name="Content Placeholder 2"/>
          <p:cNvSpPr txBox="1">
            <a:spLocks/>
          </p:cNvSpPr>
          <p:nvPr/>
        </p:nvSpPr>
        <p:spPr>
          <a:xfrm>
            <a:off x="2296410" y="2634060"/>
            <a:ext cx="4943290" cy="1195007"/>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vi-VN" dirty="0"/>
              <a:t>Cơ </a:t>
            </a:r>
            <a:r>
              <a:rPr lang="vi-VN" dirty="0" smtClean="0"/>
              <a:t>chế</a:t>
            </a:r>
            <a:endParaRPr lang="en-US" dirty="0"/>
          </a:p>
          <a:p>
            <a:pPr marL="0" indent="0">
              <a:buNone/>
            </a:pPr>
            <a:r>
              <a:rPr lang="en-US" i="1" dirty="0" err="1"/>
              <a:t>Hoạt</a:t>
            </a:r>
            <a:r>
              <a:rPr lang="en-US" i="1" dirty="0"/>
              <a:t> </a:t>
            </a:r>
            <a:r>
              <a:rPr lang="en-US" i="1" dirty="0" err="1"/>
              <a:t>động</a:t>
            </a:r>
            <a:r>
              <a:rPr lang="en-US" i="1" dirty="0"/>
              <a:t> </a:t>
            </a:r>
            <a:r>
              <a:rPr lang="en-US" i="1" dirty="0" err="1"/>
              <a:t>dựa</a:t>
            </a:r>
            <a:r>
              <a:rPr lang="en-US" i="1" dirty="0"/>
              <a:t> </a:t>
            </a:r>
            <a:r>
              <a:rPr lang="en-US" i="1" dirty="0" err="1"/>
              <a:t>trên</a:t>
            </a:r>
            <a:r>
              <a:rPr lang="en-US" i="1" dirty="0"/>
              <a:t> </a:t>
            </a:r>
            <a:r>
              <a:rPr lang="en-US" i="1" dirty="0" err="1"/>
              <a:t>mô</a:t>
            </a:r>
            <a:r>
              <a:rPr lang="en-US" i="1" dirty="0"/>
              <a:t> </a:t>
            </a:r>
            <a:r>
              <a:rPr lang="en-US" i="1" dirty="0" err="1"/>
              <a:t>hình</a:t>
            </a:r>
            <a:r>
              <a:rPr lang="en-US" i="1" dirty="0"/>
              <a:t> </a:t>
            </a:r>
            <a:r>
              <a:rPr lang="en-US" i="1" dirty="0" err="1"/>
              <a:t>xử</a:t>
            </a:r>
            <a:r>
              <a:rPr lang="en-US" i="1" dirty="0"/>
              <a:t> </a:t>
            </a:r>
            <a:r>
              <a:rPr lang="en-US" i="1" dirty="0" err="1"/>
              <a:t>lý</a:t>
            </a:r>
            <a:r>
              <a:rPr lang="en-US" i="1" dirty="0"/>
              <a:t> </a:t>
            </a:r>
            <a:r>
              <a:rPr lang="en-US" i="1" dirty="0" err="1"/>
              <a:t>phía</a:t>
            </a:r>
            <a:r>
              <a:rPr lang="en-US" i="1" dirty="0"/>
              <a:t> server (Active Server Pages).</a:t>
            </a:r>
            <a:endParaRPr lang="en-US" i="1" dirty="0">
              <a:cs typeface="Arial" panose="020B0604020202020204" pitchFamily="34" charset="0"/>
            </a:endParaRPr>
          </a:p>
        </p:txBody>
      </p:sp>
      <p:sp>
        <p:nvSpPr>
          <p:cNvPr id="5" name="Content Placeholder 2"/>
          <p:cNvSpPr txBox="1">
            <a:spLocks/>
          </p:cNvSpPr>
          <p:nvPr/>
        </p:nvSpPr>
        <p:spPr>
          <a:xfrm>
            <a:off x="2296410" y="3971596"/>
            <a:ext cx="4943290" cy="1195007"/>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err="1" smtClean="0"/>
              <a:t>Ngôn</a:t>
            </a:r>
            <a:r>
              <a:rPr lang="en-US" dirty="0" smtClean="0"/>
              <a:t> </a:t>
            </a:r>
            <a:r>
              <a:rPr lang="en-US" dirty="0" err="1" smtClean="0"/>
              <a:t>Ngữ</a:t>
            </a:r>
            <a:endParaRPr lang="en-US" dirty="0"/>
          </a:p>
          <a:p>
            <a:pPr marL="0" indent="0">
              <a:buNone/>
            </a:pPr>
            <a:r>
              <a:rPr lang="en-US" i="1" dirty="0" err="1"/>
              <a:t>Hoạt</a:t>
            </a:r>
            <a:r>
              <a:rPr lang="en-US" i="1" dirty="0"/>
              <a:t> </a:t>
            </a:r>
            <a:r>
              <a:rPr lang="en-US" i="1" dirty="0" err="1"/>
              <a:t>động</a:t>
            </a:r>
            <a:r>
              <a:rPr lang="en-US" i="1" dirty="0"/>
              <a:t> </a:t>
            </a:r>
            <a:r>
              <a:rPr lang="en-US" i="1" dirty="0" err="1"/>
              <a:t>dựa</a:t>
            </a:r>
            <a:r>
              <a:rPr lang="en-US" i="1" dirty="0"/>
              <a:t> </a:t>
            </a:r>
            <a:r>
              <a:rPr lang="en-US" i="1" dirty="0" err="1"/>
              <a:t>trên</a:t>
            </a:r>
            <a:r>
              <a:rPr lang="en-US" i="1" dirty="0"/>
              <a:t> </a:t>
            </a:r>
            <a:r>
              <a:rPr lang="en-US" i="1" dirty="0" err="1"/>
              <a:t>mô</a:t>
            </a:r>
            <a:r>
              <a:rPr lang="en-US" i="1" dirty="0"/>
              <a:t> </a:t>
            </a:r>
            <a:r>
              <a:rPr lang="en-US" i="1" dirty="0" err="1"/>
              <a:t>hình</a:t>
            </a:r>
            <a:r>
              <a:rPr lang="en-US" i="1" dirty="0"/>
              <a:t> </a:t>
            </a:r>
            <a:r>
              <a:rPr lang="en-US" i="1" dirty="0" err="1"/>
              <a:t>xử</a:t>
            </a:r>
            <a:r>
              <a:rPr lang="en-US" i="1" dirty="0"/>
              <a:t> </a:t>
            </a:r>
            <a:r>
              <a:rPr lang="en-US" i="1" dirty="0" err="1"/>
              <a:t>lý</a:t>
            </a:r>
            <a:r>
              <a:rPr lang="en-US" i="1" dirty="0"/>
              <a:t> </a:t>
            </a:r>
            <a:r>
              <a:rPr lang="en-US" i="1" dirty="0" err="1"/>
              <a:t>phía</a:t>
            </a:r>
            <a:r>
              <a:rPr lang="en-US" i="1" dirty="0"/>
              <a:t> server (Active Server Pages).</a:t>
            </a:r>
            <a:endParaRPr lang="en-US" i="1" dirty="0">
              <a:cs typeface="Arial" panose="020B0604020202020204" pitchFamily="34" charset="0"/>
            </a:endParaRPr>
          </a:p>
        </p:txBody>
      </p:sp>
      <p:sp>
        <p:nvSpPr>
          <p:cNvPr id="6" name="Content Placeholder 2"/>
          <p:cNvSpPr txBox="1">
            <a:spLocks/>
          </p:cNvSpPr>
          <p:nvPr/>
        </p:nvSpPr>
        <p:spPr>
          <a:xfrm>
            <a:off x="2296410" y="5309132"/>
            <a:ext cx="4943290" cy="1195007"/>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An </a:t>
            </a:r>
            <a:r>
              <a:rPr lang="en-US" dirty="0" err="1" smtClean="0"/>
              <a:t>toàn</a:t>
            </a:r>
            <a:endParaRPr lang="en-US" dirty="0" smtClean="0"/>
          </a:p>
          <a:p>
            <a:pPr marL="0" indent="0">
              <a:buNone/>
            </a:pPr>
            <a:r>
              <a:rPr lang="vi-VN" i="1" dirty="0"/>
              <a:t>Quản lý dữ liệu và logic xử lý chặt chẽ hơn nhờ xử lý tại máy chủ.</a:t>
            </a:r>
            <a:endParaRPr lang="en-US" i="1" dirty="0">
              <a:cs typeface="Arial" panose="020B0604020202020204" pitchFamily="34" charset="0"/>
            </a:endParaRPr>
          </a:p>
        </p:txBody>
      </p:sp>
    </p:spTree>
    <p:extLst>
      <p:ext uri="{BB962C8B-B14F-4D97-AF65-F5344CB8AC3E}">
        <p14:creationId xmlns:p14="http://schemas.microsoft.com/office/powerpoint/2010/main" val="122084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barn(inVertical)">
                                      <p:cBhvr>
                                        <p:cTn id="10" dur="5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arn(inVertical)">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arn(inVertical)">
                                      <p:cBhvr>
                                        <p:cTn id="20" dur="500"/>
                                        <p:tgtEl>
                                          <p:spTgt spid="3">
                                            <p:txEl>
                                              <p:pRg st="1" end="1"/>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arn(inVertical)">
                                      <p:cBhvr>
                                        <p:cTn id="23" dur="500"/>
                                        <p:tgtEl>
                                          <p:spTgt spid="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arn(inVertical)">
                                      <p:cBhvr>
                                        <p:cTn id="26" dur="500"/>
                                        <p:tgtEl>
                                          <p:spTgt spid="5"/>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P spid="4"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83" y="89483"/>
            <a:ext cx="8596668" cy="1320800"/>
          </a:xfrm>
        </p:spPr>
        <p:txBody>
          <a:bodyPr>
            <a:normAutofit fontScale="90000"/>
          </a:bodyPr>
          <a:lstStyle/>
          <a:p>
            <a:pPr marL="571500" indent="-571500">
              <a:buFont typeface="Wingdings" panose="05000000000000000000" pitchFamily="2" charset="2"/>
              <a:buChar char="v"/>
            </a:pPr>
            <a:r>
              <a:rPr lang="vi-VN" dirty="0">
                <a:latin typeface="+mn-lt"/>
              </a:rPr>
              <a:t>Công nghệ hỗ trợ giao diện và tương tác người </a:t>
            </a:r>
            <a:r>
              <a:rPr lang="vi-VN" dirty="0" smtClean="0">
                <a:latin typeface="+mn-lt"/>
              </a:rPr>
              <a:t>dùng</a:t>
            </a:r>
            <a:r>
              <a:rPr lang="en-US" dirty="0" smtClean="0">
                <a:latin typeface="+mn-lt"/>
              </a:rPr>
              <a:t/>
            </a:r>
            <a:br>
              <a:rPr lang="en-US" dirty="0" smtClean="0">
                <a:latin typeface="+mn-lt"/>
              </a:rPr>
            </a:br>
            <a:r>
              <a:rPr lang="vi-VN" sz="1800" i="1" dirty="0">
                <a:latin typeface="+mn-lt"/>
              </a:rPr>
              <a:t>Sử dụng HTML, CSS, JavaScript, jQuery và Bootstrap để tối ưu trải nghiệm</a:t>
            </a:r>
            <a:endParaRPr lang="en-US" sz="1800" i="1" dirty="0">
              <a:latin typeface="+mn-lt"/>
            </a:endParaRPr>
          </a:p>
        </p:txBody>
      </p:sp>
      <p:sp>
        <p:nvSpPr>
          <p:cNvPr id="3" name="Content Placeholder 2"/>
          <p:cNvSpPr>
            <a:spLocks noGrp="1"/>
          </p:cNvSpPr>
          <p:nvPr>
            <p:ph idx="1"/>
          </p:nvPr>
        </p:nvSpPr>
        <p:spPr>
          <a:xfrm>
            <a:off x="551499" y="1755543"/>
            <a:ext cx="4079224" cy="1471845"/>
          </a:xfrm>
          <a:ln>
            <a:solidFill>
              <a:schemeClr val="accent1"/>
            </a:solidFill>
          </a:ln>
        </p:spPr>
        <p:txBody>
          <a:bodyPr/>
          <a:lstStyle/>
          <a:p>
            <a:r>
              <a:rPr lang="en-US" dirty="0" smtClean="0">
                <a:latin typeface="Arial" panose="020B0604020202020204" pitchFamily="34" charset="0"/>
                <a:cs typeface="Arial" panose="020B0604020202020204" pitchFamily="34" charset="0"/>
              </a:rPr>
              <a:t>HTML</a:t>
            </a:r>
          </a:p>
          <a:p>
            <a:pPr marL="0" indent="0">
              <a:buNone/>
            </a:pPr>
            <a:r>
              <a:rPr lang="en-US" i="1" dirty="0" err="1">
                <a:latin typeface="Arial" panose="020B0604020202020204" pitchFamily="34" charset="0"/>
                <a:cs typeface="Arial" panose="020B0604020202020204" pitchFamily="34" charset="0"/>
              </a:rPr>
              <a:t>Ngôn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ngữ</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đánh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dấu</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xây</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dựng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cấu</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trúc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nội</a:t>
            </a:r>
            <a:r>
              <a:rPr lang="en-US" i="1" dirty="0">
                <a:latin typeface="Arial" panose="020B0604020202020204" pitchFamily="34" charset="0"/>
                <a:cs typeface="Arial" panose="020B0604020202020204" pitchFamily="34" charset="0"/>
              </a:rPr>
              <a:t> dung </a:t>
            </a:r>
            <a:r>
              <a:rPr lang="en-US" i="1" dirty="0" err="1">
                <a:latin typeface="Arial" panose="020B0604020202020204" pitchFamily="34" charset="0"/>
                <a:cs typeface="Arial" panose="020B0604020202020204" pitchFamily="34" charset="0"/>
              </a:rPr>
              <a:t>trang</a:t>
            </a:r>
            <a:r>
              <a:rPr lang="en-US" i="1" dirty="0">
                <a:latin typeface="Arial" panose="020B0604020202020204" pitchFamily="34" charset="0"/>
                <a:cs typeface="Arial" panose="020B0604020202020204" pitchFamily="34" charset="0"/>
              </a:rPr>
              <a:t> web </a:t>
            </a:r>
            <a:r>
              <a:rPr lang="en-US" i="1" dirty="0" err="1">
                <a:latin typeface="Arial" panose="020B0604020202020204" pitchFamily="34" charset="0"/>
                <a:cs typeface="Arial" panose="020B0604020202020204" pitchFamily="34" charset="0"/>
              </a:rPr>
              <a:t>bằng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các</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thẻ</a:t>
            </a:r>
            <a:r>
              <a:rPr lang="en-US" i="1" dirty="0">
                <a:latin typeface="Arial" panose="020B0604020202020204" pitchFamily="34" charset="0"/>
                <a:cs typeface="Arial" panose="020B0604020202020204" pitchFamily="34" charset="0"/>
              </a:rPr>
              <a:t> (tag).</a:t>
            </a:r>
          </a:p>
        </p:txBody>
      </p:sp>
      <p:sp>
        <p:nvSpPr>
          <p:cNvPr id="4" name="Content Placeholder 2"/>
          <p:cNvSpPr txBox="1">
            <a:spLocks/>
          </p:cNvSpPr>
          <p:nvPr/>
        </p:nvSpPr>
        <p:spPr>
          <a:xfrm>
            <a:off x="5393345" y="1755543"/>
            <a:ext cx="4079224" cy="1471845"/>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CSS</a:t>
            </a:r>
            <a:endParaRPr lang="en-US" dirty="0" smtClean="0">
              <a:latin typeface="Arial" panose="020B0604020202020204" pitchFamily="34" charset="0"/>
              <a:cs typeface="Arial" panose="020B0604020202020204" pitchFamily="34" charset="0"/>
            </a:endParaRPr>
          </a:p>
          <a:p>
            <a:pPr marL="0" indent="0">
              <a:buNone/>
            </a:pPr>
            <a:r>
              <a:rPr lang="vi-VN" i="1" dirty="0"/>
              <a:t>Định dạng màu sắc, bố cục, kích thước và đảm bảo giao diện tương thích thiết bị.</a:t>
            </a:r>
            <a:endParaRPr lang="en-US" i="1" dirty="0">
              <a:latin typeface="Arial" panose="020B0604020202020204" pitchFamily="34" charset="0"/>
              <a:cs typeface="Arial" panose="020B0604020202020204" pitchFamily="34" charset="0"/>
            </a:endParaRPr>
          </a:p>
        </p:txBody>
      </p:sp>
      <p:sp>
        <p:nvSpPr>
          <p:cNvPr id="5" name="Content Placeholder 2"/>
          <p:cNvSpPr txBox="1">
            <a:spLocks/>
          </p:cNvSpPr>
          <p:nvPr/>
        </p:nvSpPr>
        <p:spPr>
          <a:xfrm>
            <a:off x="3146494" y="3525306"/>
            <a:ext cx="4079224" cy="1471845"/>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JavaScript</a:t>
            </a:r>
            <a:endParaRPr lang="en-US" dirty="0" smtClean="0">
              <a:latin typeface="Arial" panose="020B0604020202020204" pitchFamily="34" charset="0"/>
              <a:cs typeface="Arial" panose="020B0604020202020204" pitchFamily="34" charset="0"/>
            </a:endParaRPr>
          </a:p>
          <a:p>
            <a:pPr marL="0" indent="0">
              <a:buNone/>
            </a:pPr>
            <a:r>
              <a:rPr lang="vi-VN" i="1" dirty="0"/>
              <a:t>Ngôn ngữ lập trình phía client tạo các chức năng tương tác linh hoạt.</a:t>
            </a:r>
            <a:endParaRPr lang="en-US" i="1" dirty="0">
              <a:latin typeface="Arial" panose="020B0604020202020204" pitchFamily="34" charset="0"/>
              <a:cs typeface="Arial" panose="020B0604020202020204" pitchFamily="34" charset="0"/>
            </a:endParaRPr>
          </a:p>
        </p:txBody>
      </p:sp>
      <p:sp>
        <p:nvSpPr>
          <p:cNvPr id="6" name="Content Placeholder 2"/>
          <p:cNvSpPr txBox="1">
            <a:spLocks/>
          </p:cNvSpPr>
          <p:nvPr/>
        </p:nvSpPr>
        <p:spPr>
          <a:xfrm>
            <a:off x="551499" y="5298667"/>
            <a:ext cx="4079224" cy="1471845"/>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jQuery</a:t>
            </a:r>
            <a:endParaRPr lang="en-US" dirty="0" smtClean="0">
              <a:latin typeface="Arial" panose="020B0604020202020204" pitchFamily="34" charset="0"/>
              <a:cs typeface="Arial" panose="020B0604020202020204" pitchFamily="34" charset="0"/>
            </a:endParaRPr>
          </a:p>
          <a:p>
            <a:pPr marL="0" indent="0">
              <a:buNone/>
            </a:pPr>
            <a:r>
              <a:rPr lang="vi-VN" i="1" dirty="0"/>
              <a:t>Thư viện JavaScript giúp đơn giản hóa việc xử lý sự kiện và hiệu ứng.</a:t>
            </a:r>
            <a:endParaRPr lang="en-US" i="1" dirty="0">
              <a:latin typeface="Arial" panose="020B0604020202020204" pitchFamily="34" charset="0"/>
              <a:cs typeface="Arial" panose="020B0604020202020204" pitchFamily="34" charset="0"/>
            </a:endParaRPr>
          </a:p>
        </p:txBody>
      </p:sp>
      <p:sp>
        <p:nvSpPr>
          <p:cNvPr id="7" name="Content Placeholder 2"/>
          <p:cNvSpPr txBox="1">
            <a:spLocks/>
          </p:cNvSpPr>
          <p:nvPr/>
        </p:nvSpPr>
        <p:spPr>
          <a:xfrm>
            <a:off x="5393345" y="5302265"/>
            <a:ext cx="4079224" cy="1471845"/>
          </a:xfrm>
          <a:prstGeom prst="rect">
            <a:avLst/>
          </a:prstGeom>
          <a:ln>
            <a:solidFill>
              <a:schemeClr val="accent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Bootstrap</a:t>
            </a:r>
            <a:endParaRPr lang="en-US" dirty="0" smtClean="0">
              <a:latin typeface="Arial" panose="020B0604020202020204" pitchFamily="34" charset="0"/>
              <a:cs typeface="Arial" panose="020B0604020202020204" pitchFamily="34" charset="0"/>
            </a:endParaRPr>
          </a:p>
          <a:p>
            <a:pPr marL="0" indent="0">
              <a:buNone/>
            </a:pPr>
            <a:r>
              <a:rPr lang="en-US" i="1" dirty="0"/>
              <a:t>Framework </a:t>
            </a:r>
            <a:r>
              <a:rPr lang="en-US" i="1" dirty="0" err="1"/>
              <a:t>hỗ</a:t>
            </a:r>
            <a:r>
              <a:rPr lang="en-US" i="1" dirty="0"/>
              <a:t> </a:t>
            </a:r>
            <a:r>
              <a:rPr lang="en-US" i="1" dirty="0" err="1"/>
              <a:t>trợ</a:t>
            </a:r>
            <a:r>
              <a:rPr lang="en-US" i="1" dirty="0"/>
              <a:t> </a:t>
            </a:r>
            <a:r>
              <a:rPr lang="en-US" i="1" dirty="0" err="1"/>
              <a:t>thiết</a:t>
            </a:r>
            <a:r>
              <a:rPr lang="en-US" i="1" dirty="0"/>
              <a:t> </a:t>
            </a:r>
            <a:r>
              <a:rPr lang="en-US" i="1" dirty="0" err="1"/>
              <a:t>kế</a:t>
            </a:r>
            <a:r>
              <a:rPr lang="en-US" i="1" dirty="0"/>
              <a:t> </a:t>
            </a:r>
            <a:r>
              <a:rPr lang="en-US" i="1" dirty="0" err="1"/>
              <a:t>giao</a:t>
            </a:r>
            <a:r>
              <a:rPr lang="en-US" i="1" dirty="0"/>
              <a:t> </a:t>
            </a:r>
            <a:r>
              <a:rPr lang="en-US" i="1" dirty="0" err="1"/>
              <a:t>diện</a:t>
            </a:r>
            <a:r>
              <a:rPr lang="en-US" i="1" dirty="0"/>
              <a:t> responsive </a:t>
            </a:r>
            <a:r>
              <a:rPr lang="en-US" i="1" dirty="0" err="1"/>
              <a:t>nhanh</a:t>
            </a:r>
            <a:r>
              <a:rPr lang="en-US" i="1" dirty="0"/>
              <a:t> </a:t>
            </a:r>
            <a:r>
              <a:rPr lang="en-US" i="1" dirty="0" err="1"/>
              <a:t>chóng</a:t>
            </a:r>
            <a:r>
              <a:rPr lang="en-US" i="1" dirty="0"/>
              <a:t> </a:t>
            </a:r>
            <a:r>
              <a:rPr lang="en-US" i="1" dirty="0" err="1"/>
              <a:t>và</a:t>
            </a:r>
            <a:r>
              <a:rPr lang="en-US" i="1" dirty="0"/>
              <a:t> </a:t>
            </a:r>
            <a:r>
              <a:rPr lang="en-US" i="1" dirty="0" err="1"/>
              <a:t>đồng</a:t>
            </a:r>
            <a:r>
              <a:rPr lang="en-US" i="1" dirty="0"/>
              <a:t> </a:t>
            </a:r>
            <a:r>
              <a:rPr lang="en-US" i="1" dirty="0" err="1"/>
              <a:t>nhất</a:t>
            </a:r>
            <a:r>
              <a:rPr lang="en-US" i="1" dirty="0"/>
              <a:t>.</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550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down)">
                                      <p:cBhvr>
                                        <p:cTn id="10" dur="5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down)">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down)">
                                      <p:cBhvr>
                                        <p:cTn id="20" dur="500"/>
                                        <p:tgtEl>
                                          <p:spTgt spid="3">
                                            <p:txEl>
                                              <p:pRg st="1" end="1"/>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26" y="114649"/>
            <a:ext cx="9666292" cy="1084977"/>
          </a:xfrm>
        </p:spPr>
        <p:txBody>
          <a:bodyPr>
            <a:normAutofit/>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Kiến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trúc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mềm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MVC</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Phân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tách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hệ</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thống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thành</a:t>
            </a:r>
            <a:r>
              <a:rPr lang="en-US" sz="1800" i="1" dirty="0">
                <a:latin typeface="Arial" panose="020B0604020202020204" pitchFamily="34" charset="0"/>
                <a:cs typeface="Arial" panose="020B0604020202020204" pitchFamily="34" charset="0"/>
              </a:rPr>
              <a:t> 3 </a:t>
            </a:r>
            <a:r>
              <a:rPr lang="en-US" sz="1800" i="1" dirty="0" err="1">
                <a:latin typeface="Arial" panose="020B0604020202020204" pitchFamily="34" charset="0"/>
                <a:cs typeface="Arial" panose="020B0604020202020204" pitchFamily="34" charset="0"/>
              </a:rPr>
              <a:t>thành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phần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riêng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biệt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để</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quản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lý</a:t>
            </a:r>
            <a:r>
              <a:rPr lang="en-US" sz="1800" i="1" dirty="0">
                <a:latin typeface="Arial" panose="020B0604020202020204" pitchFamily="34" charset="0"/>
                <a:cs typeface="Arial" panose="020B0604020202020204" pitchFamily="34" charset="0"/>
              </a:rPr>
              <a:t> code </a:t>
            </a:r>
            <a:r>
              <a:rPr lang="en-US" sz="1800" i="1" dirty="0" err="1">
                <a:latin typeface="Arial" panose="020B0604020202020204" pitchFamily="34" charset="0"/>
                <a:cs typeface="Arial" panose="020B0604020202020204" pitchFamily="34" charset="0"/>
              </a:rPr>
              <a:t>hiệu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quả</a:t>
            </a:r>
            <a:endParaRPr lang="en-US" sz="1800"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734811" y="1634667"/>
            <a:ext cx="4639111" cy="733612"/>
          </a:xfrm>
          <a:ln>
            <a:solidFill>
              <a:schemeClr val="accent1"/>
            </a:solidFill>
          </a:ln>
        </p:spPr>
        <p:txBody>
          <a:bodyPr anchor="ctr">
            <a:normAutofit/>
          </a:bodyPr>
          <a:lstStyle/>
          <a:p>
            <a:pPr algn="ctr">
              <a:buFont typeface="Wingdings" panose="05000000000000000000" pitchFamily="2" charset="2"/>
              <a:buChar char="q"/>
            </a:pPr>
            <a:r>
              <a:rPr lang="en-US" sz="2800" dirty="0" err="1">
                <a:latin typeface="Arial" panose="020B0604020202020204" pitchFamily="34" charset="0"/>
                <a:cs typeface="Arial" panose="020B0604020202020204" pitchFamily="34" charset="0"/>
              </a:rPr>
              <a:t>Cấu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trúc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hệ</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thống</a:t>
            </a:r>
            <a:r>
              <a:rPr lang="en-US" sz="2800" dirty="0">
                <a:latin typeface="Arial" panose="020B0604020202020204" pitchFamily="34" charset="0"/>
                <a:cs typeface="Arial" panose="020B0604020202020204" pitchFamily="34" charset="0"/>
              </a:rPr>
              <a:t> MVC</a:t>
            </a:r>
          </a:p>
        </p:txBody>
      </p:sp>
      <p:sp>
        <p:nvSpPr>
          <p:cNvPr id="7" name="Content Placeholder 2"/>
          <p:cNvSpPr txBox="1">
            <a:spLocks/>
          </p:cNvSpPr>
          <p:nvPr/>
        </p:nvSpPr>
        <p:spPr>
          <a:xfrm>
            <a:off x="151624" y="2803321"/>
            <a:ext cx="3187194" cy="1284915"/>
          </a:xfrm>
          <a:prstGeom prst="rect">
            <a:avLst/>
          </a:prstGeom>
          <a:ln>
            <a:solidFill>
              <a:schemeClr val="accent1"/>
            </a:solidFill>
          </a:ln>
        </p:spPr>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dirty="0" smtClean="0">
                <a:latin typeface="Arial" panose="020B0604020202020204" pitchFamily="34" charset="0"/>
                <a:cs typeface="Arial" panose="020B0604020202020204" pitchFamily="34" charset="0"/>
              </a:rPr>
              <a:t>Model</a:t>
            </a:r>
          </a:p>
          <a:p>
            <a:pPr marL="0" indent="0">
              <a:buNone/>
            </a:pPr>
            <a:r>
              <a:rPr lang="vi-VN" sz="1600" i="1" dirty="0">
                <a:latin typeface="Arial" panose="020B0604020202020204" pitchFamily="34" charset="0"/>
                <a:cs typeface="Arial" panose="020B0604020202020204" pitchFamily="34" charset="0"/>
              </a:rPr>
              <a:t>Chịu trách nhiệm quản lý dữ liệu, thao tác cơ sở dữ liệu và xử lý logic nghiệp vụ.</a:t>
            </a:r>
            <a:endParaRPr lang="en-US" sz="1600" i="1" dirty="0">
              <a:latin typeface="Arial" panose="020B0604020202020204" pitchFamily="34" charset="0"/>
              <a:cs typeface="Arial" panose="020B0604020202020204" pitchFamily="34" charset="0"/>
            </a:endParaRPr>
          </a:p>
        </p:txBody>
      </p:sp>
      <p:sp>
        <p:nvSpPr>
          <p:cNvPr id="8" name="Content Placeholder 2"/>
          <p:cNvSpPr txBox="1">
            <a:spLocks/>
          </p:cNvSpPr>
          <p:nvPr/>
        </p:nvSpPr>
        <p:spPr>
          <a:xfrm>
            <a:off x="3602296" y="2803321"/>
            <a:ext cx="3187194" cy="1284915"/>
          </a:xfrm>
          <a:prstGeom prst="rect">
            <a:avLst/>
          </a:prstGeom>
          <a:ln>
            <a:solidFill>
              <a:schemeClr val="accent1"/>
            </a:solidFill>
          </a:ln>
        </p:spPr>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dirty="0" smtClean="0">
                <a:latin typeface="Arial" panose="020B0604020202020204" pitchFamily="34" charset="0"/>
                <a:cs typeface="Arial" panose="020B0604020202020204" pitchFamily="34" charset="0"/>
              </a:rPr>
              <a:t>View</a:t>
            </a:r>
          </a:p>
          <a:p>
            <a:pPr marL="0" indent="0">
              <a:buNone/>
            </a:pPr>
            <a:r>
              <a:rPr lang="vi-VN" sz="1600" i="1" dirty="0"/>
              <a:t>Phần giao diện người dùng, hiển thị dữ liệu trực quan từ Model để tương tác.</a:t>
            </a:r>
            <a:endParaRPr lang="en-US" sz="1600" i="1" dirty="0">
              <a:cs typeface="Arial" panose="020B0604020202020204" pitchFamily="34" charset="0"/>
            </a:endParaRPr>
          </a:p>
        </p:txBody>
      </p:sp>
      <p:sp>
        <p:nvSpPr>
          <p:cNvPr id="9" name="Content Placeholder 2"/>
          <p:cNvSpPr txBox="1">
            <a:spLocks/>
          </p:cNvSpPr>
          <p:nvPr/>
        </p:nvSpPr>
        <p:spPr>
          <a:xfrm>
            <a:off x="7052968" y="2803321"/>
            <a:ext cx="3187194" cy="1284915"/>
          </a:xfrm>
          <a:prstGeom prst="rect">
            <a:avLst/>
          </a:prstGeom>
          <a:ln>
            <a:solidFill>
              <a:schemeClr val="accent1"/>
            </a:solidFill>
          </a:ln>
        </p:spPr>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dirty="0" smtClean="0">
                <a:latin typeface="Arial" panose="020B0604020202020204" pitchFamily="34" charset="0"/>
                <a:cs typeface="Arial" panose="020B0604020202020204" pitchFamily="34" charset="0"/>
              </a:rPr>
              <a:t>Controller</a:t>
            </a:r>
          </a:p>
          <a:p>
            <a:pPr marL="0" indent="0">
              <a:buNone/>
            </a:pPr>
            <a:r>
              <a:rPr lang="vi-VN" sz="1600" i="1" dirty="0"/>
              <a:t>Phần giao diện người dùng, hiển thị dữ liệu trực quan từ Model để tương tác.</a:t>
            </a:r>
            <a:endParaRPr lang="en-US" sz="1600" i="1" dirty="0">
              <a:cs typeface="Arial" panose="020B0604020202020204" pitchFamily="34" charset="0"/>
            </a:endParaRPr>
          </a:p>
        </p:txBody>
      </p:sp>
      <p:sp>
        <p:nvSpPr>
          <p:cNvPr id="10" name="Content Placeholder 2"/>
          <p:cNvSpPr txBox="1">
            <a:spLocks/>
          </p:cNvSpPr>
          <p:nvPr/>
        </p:nvSpPr>
        <p:spPr>
          <a:xfrm>
            <a:off x="151625" y="4337319"/>
            <a:ext cx="10088538" cy="1543363"/>
          </a:xfrm>
          <a:prstGeom prst="rect">
            <a:avLst/>
          </a:prstGeom>
          <a:ln>
            <a:solidFill>
              <a:schemeClr val="accent1"/>
            </a:solidFill>
          </a:ln>
        </p:spPr>
        <p:txBody>
          <a:bodyPr vert="horz" lIns="91440" tIns="45720" rIns="91440" bIns="45720" rtlCol="0" anchor="ct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buFont typeface="Wingdings" panose="05000000000000000000" pitchFamily="2" charset="2"/>
              <a:buChar char="v"/>
            </a:pPr>
            <a:r>
              <a:rPr lang="en-US" sz="2900" dirty="0" err="1" smtClean="0">
                <a:latin typeface="Arial" panose="020B0604020202020204" pitchFamily="34" charset="0"/>
                <a:cs typeface="Arial" panose="020B0604020202020204" pitchFamily="34" charset="0"/>
              </a:rPr>
              <a:t>Ưu</a:t>
            </a:r>
            <a:r>
              <a:rPr lang="en-US" sz="2900" dirty="0" smtClean="0">
                <a:latin typeface="Arial" panose="020B0604020202020204" pitchFamily="34" charset="0"/>
                <a:cs typeface="Arial" panose="020B0604020202020204" pitchFamily="34" charset="0"/>
              </a:rPr>
              <a:t> </a:t>
            </a:r>
            <a:r>
              <a:rPr lang="en-US" sz="2900" dirty="0" err="1" smtClean="0">
                <a:latin typeface="Arial" panose="020B0604020202020204" pitchFamily="34" charset="0"/>
                <a:cs typeface="Arial" panose="020B0604020202020204" pitchFamily="34" charset="0"/>
              </a:rPr>
              <a:t>điểm</a:t>
            </a:r>
            <a:endParaRPr lang="en-US" sz="2900" dirty="0" smtClean="0">
              <a:latin typeface="Arial" panose="020B0604020202020204" pitchFamily="34" charset="0"/>
              <a:cs typeface="Arial" panose="020B0604020202020204" pitchFamily="34" charset="0"/>
            </a:endParaRPr>
          </a:p>
          <a:p>
            <a:pPr marL="0" indent="0" algn="ctr">
              <a:buNone/>
            </a:pPr>
            <a:r>
              <a:rPr lang="en-US" sz="2900" dirty="0">
                <a:latin typeface="Arial" panose="020B0604020202020204" pitchFamily="34" charset="0"/>
                <a:cs typeface="Arial" panose="020B0604020202020204" pitchFamily="34" charset="0"/>
              </a:rPr>
              <a:t>Code </a:t>
            </a:r>
            <a:r>
              <a:rPr lang="en-US" sz="2900" dirty="0" err="1">
                <a:latin typeface="Arial" panose="020B0604020202020204" pitchFamily="34" charset="0"/>
                <a:cs typeface="Arial" panose="020B0604020202020204" pitchFamily="34" charset="0"/>
              </a:rPr>
              <a:t>dễ</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hiểu</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dễ</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bảo</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trì</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hỗ</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trợ</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làm</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việc</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nhóm</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và</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tái</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sử</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dụng</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mã</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nguồn</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linh</a:t>
            </a:r>
            <a:r>
              <a:rPr lang="en-US" sz="2900" dirty="0">
                <a:latin typeface="Arial" panose="020B0604020202020204" pitchFamily="34" charset="0"/>
                <a:cs typeface="Arial" panose="020B0604020202020204" pitchFamily="34" charset="0"/>
              </a:rPr>
              <a:t> </a:t>
            </a:r>
            <a:r>
              <a:rPr lang="en-US" sz="2900" dirty="0" err="1">
                <a:latin typeface="Arial" panose="020B0604020202020204" pitchFamily="34" charset="0"/>
                <a:cs typeface="Arial" panose="020B0604020202020204" pitchFamily="34" charset="0"/>
              </a:rPr>
              <a:t>hoạt</a:t>
            </a:r>
            <a:r>
              <a:rPr lang="en-US" sz="29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5832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circle(in)">
                                      <p:cBhvr>
                                        <p:cTn id="10" dur="20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circle(in)">
                                      <p:cBhvr>
                                        <p:cTn id="15" dur="2000"/>
                                        <p:tgtEl>
                                          <p:spTgt spid="3">
                                            <p:txEl>
                                              <p:pRg st="0" end="0"/>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ircle(in)">
                                      <p:cBhvr>
                                        <p:cTn id="18" dur="2000"/>
                                        <p:tgtEl>
                                          <p:spTgt spid="7"/>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circle(in)">
                                      <p:cBhvr>
                                        <p:cTn id="21" dur="2000"/>
                                        <p:tgtEl>
                                          <p:spTgt spid="8"/>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ircle(in)">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18" y="181761"/>
            <a:ext cx="9103827" cy="1320800"/>
          </a:xfrm>
        </p:spPr>
        <p:txBody>
          <a:bodyPr>
            <a:normAutofit fontScale="90000"/>
          </a:bodyPr>
          <a:lstStyle/>
          <a:p>
            <a:pPr marL="571500" indent="-571500">
              <a:buFont typeface="Wingdings" panose="05000000000000000000" pitchFamily="2" charset="2"/>
              <a:buChar char="v"/>
            </a:pPr>
            <a:r>
              <a:rPr lang="vi-VN" dirty="0">
                <a:latin typeface="+mn-lt"/>
              </a:rPr>
              <a:t>Thực hiện hóa nghiên cứu và xu hướng kinh doanh trực </a:t>
            </a:r>
            <a:r>
              <a:rPr lang="vi-VN" dirty="0" smtClean="0">
                <a:latin typeface="+mn-lt"/>
              </a:rPr>
              <a:t>tuyến</a:t>
            </a:r>
            <a:r>
              <a:rPr lang="en-US" dirty="0" smtClean="0">
                <a:latin typeface="+mn-lt"/>
              </a:rPr>
              <a:t/>
            </a:r>
            <a:br>
              <a:rPr lang="en-US" dirty="0" smtClean="0">
                <a:latin typeface="+mn-lt"/>
              </a:rPr>
            </a:br>
            <a:r>
              <a:rPr lang="en-US" sz="1800" i="1" dirty="0" err="1">
                <a:latin typeface="+mn-lt"/>
              </a:rPr>
              <a:t>Đánh</a:t>
            </a:r>
            <a:r>
              <a:rPr lang="en-US" sz="1800" i="1" dirty="0">
                <a:latin typeface="+mn-lt"/>
              </a:rPr>
              <a:t> </a:t>
            </a:r>
            <a:r>
              <a:rPr lang="en-US" sz="1800" i="1" dirty="0" err="1">
                <a:latin typeface="+mn-lt"/>
              </a:rPr>
              <a:t>giá</a:t>
            </a:r>
            <a:r>
              <a:rPr lang="en-US" sz="1800" i="1" dirty="0">
                <a:latin typeface="+mn-lt"/>
              </a:rPr>
              <a:t> </a:t>
            </a:r>
            <a:r>
              <a:rPr lang="en-US" sz="1800" i="1" dirty="0" err="1">
                <a:latin typeface="+mn-lt"/>
              </a:rPr>
              <a:t>lợi</a:t>
            </a:r>
            <a:r>
              <a:rPr lang="en-US" sz="1800" i="1" dirty="0">
                <a:latin typeface="+mn-lt"/>
              </a:rPr>
              <a:t> </a:t>
            </a:r>
            <a:r>
              <a:rPr lang="en-US" sz="1800" i="1" dirty="0" err="1">
                <a:latin typeface="+mn-lt"/>
              </a:rPr>
              <a:t>ích</a:t>
            </a:r>
            <a:r>
              <a:rPr lang="en-US" sz="1800" i="1" dirty="0">
                <a:latin typeface="+mn-lt"/>
              </a:rPr>
              <a:t> </a:t>
            </a:r>
            <a:r>
              <a:rPr lang="en-US" sz="1800" i="1" dirty="0" err="1">
                <a:latin typeface="+mn-lt"/>
              </a:rPr>
              <a:t>và</a:t>
            </a:r>
            <a:r>
              <a:rPr lang="en-US" sz="1800" i="1" dirty="0">
                <a:latin typeface="+mn-lt"/>
              </a:rPr>
              <a:t> </a:t>
            </a:r>
            <a:r>
              <a:rPr lang="en-US" sz="1800" i="1" dirty="0" err="1">
                <a:latin typeface="+mn-lt"/>
              </a:rPr>
              <a:t>thách</a:t>
            </a:r>
            <a:r>
              <a:rPr lang="en-US" sz="1800" i="1" dirty="0">
                <a:latin typeface="+mn-lt"/>
              </a:rPr>
              <a:t> </a:t>
            </a:r>
            <a:r>
              <a:rPr lang="en-US" sz="1800" i="1" dirty="0" err="1">
                <a:latin typeface="+mn-lt"/>
              </a:rPr>
              <a:t>thức</a:t>
            </a:r>
            <a:r>
              <a:rPr lang="en-US" sz="1800" i="1" dirty="0">
                <a:latin typeface="+mn-lt"/>
              </a:rPr>
              <a:t> </a:t>
            </a:r>
            <a:r>
              <a:rPr lang="en-US" sz="1800" i="1" dirty="0" err="1">
                <a:latin typeface="+mn-lt"/>
              </a:rPr>
              <a:t>của</a:t>
            </a:r>
            <a:r>
              <a:rPr lang="en-US" sz="1800" i="1" dirty="0">
                <a:latin typeface="+mn-lt"/>
              </a:rPr>
              <a:t> </a:t>
            </a:r>
            <a:r>
              <a:rPr lang="en-US" sz="1800" i="1" dirty="0" err="1">
                <a:latin typeface="+mn-lt"/>
              </a:rPr>
              <a:t>hình</a:t>
            </a:r>
            <a:r>
              <a:rPr lang="en-US" sz="1800" i="1" dirty="0">
                <a:latin typeface="+mn-lt"/>
              </a:rPr>
              <a:t> </a:t>
            </a:r>
            <a:r>
              <a:rPr lang="en-US" sz="1800" i="1" dirty="0" err="1">
                <a:latin typeface="+mn-lt"/>
              </a:rPr>
              <a:t>thức</a:t>
            </a:r>
            <a:r>
              <a:rPr lang="en-US" sz="1800" i="1" dirty="0">
                <a:latin typeface="+mn-lt"/>
              </a:rPr>
              <a:t> </a:t>
            </a:r>
            <a:r>
              <a:rPr lang="en-US" sz="1800" i="1" dirty="0" err="1">
                <a:latin typeface="+mn-lt"/>
              </a:rPr>
              <a:t>kinh</a:t>
            </a:r>
            <a:r>
              <a:rPr lang="en-US" sz="1800" i="1" dirty="0">
                <a:latin typeface="+mn-lt"/>
              </a:rPr>
              <a:t> </a:t>
            </a:r>
            <a:r>
              <a:rPr lang="en-US" sz="1800" i="1" dirty="0" err="1">
                <a:latin typeface="+mn-lt"/>
              </a:rPr>
              <a:t>doanh</a:t>
            </a:r>
            <a:r>
              <a:rPr lang="en-US" sz="1800" i="1" dirty="0">
                <a:latin typeface="+mn-lt"/>
              </a:rPr>
              <a:t> online </a:t>
            </a:r>
            <a:r>
              <a:rPr lang="en-US" sz="1800" i="1" dirty="0" err="1">
                <a:latin typeface="+mn-lt"/>
              </a:rPr>
              <a:t>hiện</a:t>
            </a:r>
            <a:r>
              <a:rPr lang="en-US" sz="1800" i="1" dirty="0">
                <a:latin typeface="+mn-lt"/>
              </a:rPr>
              <a:t> nay</a:t>
            </a:r>
          </a:p>
        </p:txBody>
      </p:sp>
      <p:pic>
        <p:nvPicPr>
          <p:cNvPr id="4" name="Picture 3"/>
          <p:cNvPicPr>
            <a:picLocks noChangeAspect="1"/>
          </p:cNvPicPr>
          <p:nvPr/>
        </p:nvPicPr>
        <p:blipFill>
          <a:blip r:embed="rId2"/>
          <a:stretch>
            <a:fillRect/>
          </a:stretch>
        </p:blipFill>
        <p:spPr>
          <a:xfrm>
            <a:off x="534511" y="1904300"/>
            <a:ext cx="8848757" cy="1302377"/>
          </a:xfrm>
          <a:prstGeom prst="rect">
            <a:avLst/>
          </a:prstGeom>
        </p:spPr>
      </p:pic>
      <p:sp>
        <p:nvSpPr>
          <p:cNvPr id="5" name="Rectangle 4"/>
          <p:cNvSpPr/>
          <p:nvPr/>
        </p:nvSpPr>
        <p:spPr>
          <a:xfrm>
            <a:off x="350163" y="3378557"/>
            <a:ext cx="1562527" cy="2585323"/>
          </a:xfrm>
          <a:prstGeom prst="rect">
            <a:avLst/>
          </a:prstGeom>
          <a:ln>
            <a:solidFill>
              <a:schemeClr val="accent1"/>
            </a:solidFill>
          </a:ln>
        </p:spPr>
        <p:txBody>
          <a:bodyPr wrap="square">
            <a:spAutoFit/>
          </a:bodyPr>
          <a:lstStyle/>
          <a:p>
            <a:pPr algn="ctr"/>
            <a:r>
              <a:rPr lang="en-US" b="1" dirty="0" err="1">
                <a:solidFill>
                  <a:srgbClr val="0A0D17"/>
                </a:solidFill>
                <a:latin typeface="Arial" panose="020B0604020202020204" pitchFamily="34" charset="0"/>
                <a:cs typeface="Arial" panose="020B0604020202020204" pitchFamily="34" charset="0"/>
              </a:rPr>
              <a:t>Lợi</a:t>
            </a:r>
            <a:r>
              <a:rPr lang="en-US" b="1" dirty="0">
                <a:solidFill>
                  <a:srgbClr val="0A0D17"/>
                </a:solidFill>
                <a:latin typeface="Arial" panose="020B0604020202020204" pitchFamily="34" charset="0"/>
                <a:cs typeface="Arial" panose="020B0604020202020204" pitchFamily="34" charset="0"/>
              </a:rPr>
              <a:t> </a:t>
            </a:r>
            <a:r>
              <a:rPr lang="en-US" b="1" dirty="0" err="1" smtClean="0">
                <a:solidFill>
                  <a:srgbClr val="0A0D17"/>
                </a:solidFill>
                <a:latin typeface="Arial" panose="020B0604020202020204" pitchFamily="34" charset="0"/>
                <a:cs typeface="Arial" panose="020B0604020202020204" pitchFamily="34" charset="0"/>
              </a:rPr>
              <a:t>ích</a:t>
            </a:r>
            <a:endParaRPr lang="en-US" b="1" dirty="0" smtClean="0">
              <a:solidFill>
                <a:srgbClr val="0A0D17"/>
              </a:solidFill>
              <a:latin typeface="Arial" panose="020B0604020202020204" pitchFamily="34" charset="0"/>
              <a:cs typeface="Arial" panose="020B0604020202020204" pitchFamily="34" charset="0"/>
            </a:endParaRPr>
          </a:p>
          <a:p>
            <a:pPr algn="ctr"/>
            <a:r>
              <a:rPr lang="vi-VN" dirty="0">
                <a:latin typeface="Arial" panose="020B0604020202020204" pitchFamily="34" charset="0"/>
                <a:cs typeface="Arial" panose="020B0604020202020204" pitchFamily="34" charset="0"/>
              </a:rPr>
              <a:t>Mở rộng thị trường, tiếp cận khách hàng không giới hạn không gian và thời gian</a:t>
            </a:r>
            <a:r>
              <a:rPr lang="vi-VN"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p:txBody>
      </p:sp>
      <p:sp>
        <p:nvSpPr>
          <p:cNvPr id="6" name="Rectangle 5"/>
          <p:cNvSpPr/>
          <p:nvPr/>
        </p:nvSpPr>
        <p:spPr>
          <a:xfrm>
            <a:off x="2893426" y="3378556"/>
            <a:ext cx="1562527" cy="2585323"/>
          </a:xfrm>
          <a:prstGeom prst="rect">
            <a:avLst/>
          </a:prstGeom>
          <a:ln>
            <a:solidFill>
              <a:schemeClr val="accent1"/>
            </a:solidFill>
          </a:ln>
        </p:spPr>
        <p:txBody>
          <a:bodyPr wrap="square">
            <a:spAutoFit/>
          </a:bodyPr>
          <a:lstStyle/>
          <a:p>
            <a:pPr algn="ctr"/>
            <a:r>
              <a:rPr lang="en-US" b="1" dirty="0" err="1">
                <a:latin typeface="Arial" panose="020B0604020202020204" pitchFamily="34" charset="0"/>
                <a:cs typeface="Arial" panose="020B0604020202020204" pitchFamily="34" charset="0"/>
              </a:rPr>
              <a:t>Tiện</a:t>
            </a:r>
            <a:r>
              <a:rPr lang="en-US" b="1" dirty="0">
                <a:latin typeface="Arial" panose="020B0604020202020204" pitchFamily="34" charset="0"/>
                <a:cs typeface="Arial" panose="020B0604020202020204" pitchFamily="34" charset="0"/>
              </a:rPr>
              <a:t> </a:t>
            </a:r>
            <a:r>
              <a:rPr lang="en-US" b="1" dirty="0" err="1" smtClean="0">
                <a:latin typeface="Arial" panose="020B0604020202020204" pitchFamily="34" charset="0"/>
                <a:cs typeface="Arial" panose="020B0604020202020204" pitchFamily="34" charset="0"/>
              </a:rPr>
              <a:t>lợi</a:t>
            </a:r>
            <a:endParaRPr lang="en-US" b="1" dirty="0" smtClean="0">
              <a:latin typeface="Arial" panose="020B0604020202020204" pitchFamily="34" charset="0"/>
              <a:cs typeface="Arial" panose="020B0604020202020204" pitchFamily="34" charset="0"/>
            </a:endParaRPr>
          </a:p>
          <a:p>
            <a:pPr algn="ct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dễ</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kiếm</a:t>
            </a:r>
            <a:r>
              <a:rPr lang="en-US" dirty="0">
                <a:latin typeface="Arial" panose="020B0604020202020204" pitchFamily="34" charset="0"/>
                <a:cs typeface="Arial" panose="020B0604020202020204" pitchFamily="34" charset="0"/>
              </a:rPr>
              <a:t>, so </a:t>
            </a:r>
            <a:r>
              <a:rPr lang="en-US" dirty="0" err="1">
                <a:latin typeface="Arial" panose="020B0604020202020204" pitchFamily="34" charset="0"/>
                <a:cs typeface="Arial" panose="020B0604020202020204" pitchFamily="34" charset="0"/>
              </a:rPr>
              <a:t>sánh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qua Internet</a:t>
            </a:r>
            <a:r>
              <a:rPr lang="en-US" dirty="0" smtClean="0">
                <a:latin typeface="Arial" panose="020B0604020202020204" pitchFamily="34" charset="0"/>
                <a:cs typeface="Arial" panose="020B0604020202020204" pitchFamily="34" charset="0"/>
              </a:rPr>
              <a:t>.</a:t>
            </a:r>
          </a:p>
          <a:p>
            <a:pPr algn="ctr"/>
            <a:endParaRPr lang="en-US" dirty="0" smtClean="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p:txBody>
      </p:sp>
      <p:sp>
        <p:nvSpPr>
          <p:cNvPr id="7" name="Rectangle 6"/>
          <p:cNvSpPr/>
          <p:nvPr/>
        </p:nvSpPr>
        <p:spPr>
          <a:xfrm>
            <a:off x="5336020" y="3378555"/>
            <a:ext cx="1562527" cy="2585323"/>
          </a:xfrm>
          <a:prstGeom prst="rect">
            <a:avLst/>
          </a:prstGeom>
          <a:ln>
            <a:solidFill>
              <a:schemeClr val="accent1"/>
            </a:solidFill>
          </a:ln>
        </p:spPr>
        <p:txBody>
          <a:bodyPr wrap="square">
            <a:spAutoFit/>
          </a:bodyPr>
          <a:lstStyle/>
          <a:p>
            <a:pPr algn="ctr"/>
            <a:r>
              <a:rPr lang="en-US" b="1" dirty="0" err="1">
                <a:latin typeface="Arial" panose="020B0604020202020204" pitchFamily="34" charset="0"/>
                <a:cs typeface="Arial" panose="020B0604020202020204" pitchFamily="34" charset="0"/>
              </a:rPr>
              <a:t>Thách</a:t>
            </a:r>
            <a:r>
              <a:rPr lang="en-US" b="1" dirty="0">
                <a:latin typeface="Arial" panose="020B0604020202020204" pitchFamily="34" charset="0"/>
                <a:cs typeface="Arial" panose="020B0604020202020204" pitchFamily="34" charset="0"/>
              </a:rPr>
              <a:t> </a:t>
            </a:r>
            <a:r>
              <a:rPr lang="en-US" b="1" dirty="0" err="1" smtClean="0">
                <a:latin typeface="Arial" panose="020B0604020202020204" pitchFamily="34" charset="0"/>
                <a:cs typeface="Arial" panose="020B0604020202020204" pitchFamily="34" charset="0"/>
              </a:rPr>
              <a:t>thức</a:t>
            </a:r>
            <a:endParaRPr lang="en-US" b="1" dirty="0" smtClean="0">
              <a:latin typeface="Arial" panose="020B0604020202020204" pitchFamily="34" charset="0"/>
              <a:cs typeface="Arial" panose="020B0604020202020204" pitchFamily="34" charset="0"/>
            </a:endParaRPr>
          </a:p>
          <a:p>
            <a:pPr algn="ctr"/>
            <a:r>
              <a:rPr lang="vi-VN" dirty="0">
                <a:latin typeface="Arial" panose="020B0604020202020204" pitchFamily="34" charset="0"/>
                <a:cs typeface="Arial" panose="020B0604020202020204" pitchFamily="34" charset="0"/>
              </a:rPr>
              <a:t>Cần kiến thức công nghệ quản lý, rủi ro giao nhận và e ngại chất lượng sản phẩm.</a:t>
            </a:r>
            <a:endParaRPr lang="en-US" dirty="0">
              <a:latin typeface="Arial" panose="020B0604020202020204" pitchFamily="34" charset="0"/>
              <a:cs typeface="Arial" panose="020B0604020202020204" pitchFamily="34" charset="0"/>
            </a:endParaRPr>
          </a:p>
        </p:txBody>
      </p:sp>
      <p:sp>
        <p:nvSpPr>
          <p:cNvPr id="8" name="Rectangle 7"/>
          <p:cNvSpPr/>
          <p:nvPr/>
        </p:nvSpPr>
        <p:spPr>
          <a:xfrm>
            <a:off x="7879283" y="3378554"/>
            <a:ext cx="1562527" cy="2585323"/>
          </a:xfrm>
          <a:prstGeom prst="rect">
            <a:avLst/>
          </a:prstGeom>
          <a:ln>
            <a:solidFill>
              <a:schemeClr val="accent1"/>
            </a:solidFill>
          </a:ln>
        </p:spPr>
        <p:txBody>
          <a:bodyPr wrap="square">
            <a:spAutoFit/>
          </a:bodyPr>
          <a:lstStyle/>
          <a:p>
            <a:pPr algn="ctr"/>
            <a:r>
              <a:rPr lang="en-US" b="1" dirty="0" err="1">
                <a:latin typeface="Arial" panose="020B0604020202020204" pitchFamily="34" charset="0"/>
                <a:cs typeface="Arial" panose="020B0604020202020204" pitchFamily="34" charset="0"/>
              </a:rPr>
              <a:t>Sự</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cần</a:t>
            </a:r>
            <a:r>
              <a:rPr lang="en-US" b="1" dirty="0">
                <a:latin typeface="Arial" panose="020B0604020202020204" pitchFamily="34" charset="0"/>
                <a:cs typeface="Arial" panose="020B0604020202020204" pitchFamily="34" charset="0"/>
              </a:rPr>
              <a:t> </a:t>
            </a:r>
            <a:r>
              <a:rPr lang="en-US" b="1" dirty="0" err="1" smtClean="0">
                <a:latin typeface="Arial" panose="020B0604020202020204" pitchFamily="34" charset="0"/>
                <a:cs typeface="Arial" panose="020B0604020202020204" pitchFamily="34" charset="0"/>
              </a:rPr>
              <a:t>thiết</a:t>
            </a:r>
            <a:endParaRPr lang="en-US" b="1" dirty="0" smtClean="0">
              <a:latin typeface="Arial" panose="020B0604020202020204" pitchFamily="34" charset="0"/>
              <a:cs typeface="Arial" panose="020B0604020202020204" pitchFamily="34" charset="0"/>
            </a:endParaRPr>
          </a:p>
          <a:p>
            <a:pPr algn="ctr"/>
            <a:r>
              <a:rPr lang="en-US" dirty="0" err="1">
                <a:latin typeface="Arial" panose="020B0604020202020204" pitchFamily="34" charset="0"/>
                <a:cs typeface="Arial" panose="020B0604020202020204" pitchFamily="34" charset="0"/>
              </a:rPr>
              <a:t>Lĩnh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nghệ</a:t>
            </a:r>
            <a:r>
              <a:rPr lang="en-US" dirty="0">
                <a:latin typeface="Arial" panose="020B0604020202020204" pitchFamily="34" charset="0"/>
                <a:cs typeface="Arial" panose="020B0604020202020204" pitchFamily="34" charset="0"/>
              </a:rPr>
              <a:t> Apple </a:t>
            </a:r>
            <a:r>
              <a:rPr lang="en-US" dirty="0" err="1">
                <a:latin typeface="Arial" panose="020B0604020202020204" pitchFamily="34" charset="0"/>
                <a:cs typeface="Arial" panose="020B0604020202020204" pitchFamily="34" charset="0"/>
              </a:rPr>
              <a:t>đòi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hỏi</a:t>
            </a:r>
            <a:r>
              <a:rPr lang="en-US" dirty="0">
                <a:latin typeface="Arial" panose="020B0604020202020204" pitchFamily="34" charset="0"/>
                <a:cs typeface="Arial" panose="020B0604020202020204" pitchFamily="34" charset="0"/>
              </a:rPr>
              <a:t> website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smtClean="0">
                <a:latin typeface="Arial" panose="020B0604020202020204" pitchFamily="34" charset="0"/>
                <a:cs typeface="Arial" panose="020B0604020202020204" pitchFamily="34" charset="0"/>
              </a:rPr>
              <a:t>.</a:t>
            </a:r>
          </a:p>
          <a:p>
            <a:pPr algn="ct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7433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par>
                                <p:cTn id="11" presetID="21" presetClass="entr" presetSubtype="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heel(1)">
                                      <p:cBhvr>
                                        <p:cTn id="16" dur="2000"/>
                                        <p:tgtEl>
                                          <p:spTgt spid="6"/>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heel(1)">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92" y="81094"/>
            <a:ext cx="9280400" cy="1076587"/>
          </a:xfrm>
        </p:spPr>
        <p:txBody>
          <a:bodyPr>
            <a:normAutofit/>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Mục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website</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Hỗ</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trợ</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hoạt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động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kinh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doanh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và</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quản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lý</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cửa</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hàng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một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cách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khoa</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học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và</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hiệu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quả</a:t>
            </a:r>
            <a:endParaRPr lang="en-US" sz="1800" i="1" dirty="0">
              <a:latin typeface="Arial" panose="020B0604020202020204" pitchFamily="34" charset="0"/>
              <a:cs typeface="Arial" panose="020B0604020202020204" pitchFamily="34" charset="0"/>
            </a:endParaRPr>
          </a:p>
        </p:txBody>
      </p:sp>
      <p:sp>
        <p:nvSpPr>
          <p:cNvPr id="5" name="Rectangle 4"/>
          <p:cNvSpPr/>
          <p:nvPr/>
        </p:nvSpPr>
        <p:spPr>
          <a:xfrm>
            <a:off x="479478" y="1887523"/>
            <a:ext cx="6559809" cy="646331"/>
          </a:xfrm>
          <a:prstGeom prst="rect">
            <a:avLst/>
          </a:prstGeom>
          <a:ln>
            <a:solidFill>
              <a:schemeClr val="accent1"/>
            </a:solidFill>
          </a:ln>
        </p:spPr>
        <p:txBody>
          <a:bodyPr wrap="square">
            <a:spAutoFit/>
          </a:bodyPr>
          <a:lstStyle/>
          <a:p>
            <a:pPr marL="285750" indent="-285750" algn="ctr">
              <a:buFont typeface="Arial" panose="020B0604020202020204" pitchFamily="34" charset="0"/>
              <a:buChar char="•"/>
            </a:pPr>
            <a:r>
              <a:rPr lang="en-US" b="1" dirty="0" err="1">
                <a:solidFill>
                  <a:srgbClr val="0A0D17"/>
                </a:solidFill>
                <a:latin typeface="Arial" panose="020B0604020202020204" pitchFamily="34" charset="0"/>
                <a:cs typeface="Arial" panose="020B0604020202020204" pitchFamily="34" charset="0"/>
              </a:rPr>
              <a:t>Xây</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dựng</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hệ</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thống</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thông</a:t>
            </a:r>
            <a:r>
              <a:rPr lang="en-US" b="1" dirty="0">
                <a:solidFill>
                  <a:srgbClr val="0A0D17"/>
                </a:solidFill>
                <a:latin typeface="Arial" panose="020B0604020202020204" pitchFamily="34" charset="0"/>
                <a:cs typeface="Arial" panose="020B0604020202020204" pitchFamily="34" charset="0"/>
              </a:rPr>
              <a:t> </a:t>
            </a:r>
            <a:r>
              <a:rPr lang="en-US" b="1" dirty="0" smtClean="0">
                <a:solidFill>
                  <a:srgbClr val="0A0D17"/>
                </a:solidFill>
                <a:latin typeface="Arial" panose="020B0604020202020204" pitchFamily="34" charset="0"/>
                <a:cs typeface="Arial" panose="020B0604020202020204" pitchFamily="34" charset="0"/>
              </a:rPr>
              <a:t>tin</a:t>
            </a:r>
          </a:p>
          <a:p>
            <a:pPr algn="ctr"/>
            <a:r>
              <a:rPr lang="en-US" i="1" dirty="0" err="1">
                <a:latin typeface="Arial" panose="020B0604020202020204" pitchFamily="34" charset="0"/>
                <a:cs typeface="Arial" panose="020B0604020202020204" pitchFamily="34" charset="0"/>
              </a:rPr>
              <a:t>Cung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cấp</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đầy</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đủ</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tên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giá</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mô</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tả</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hình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ảnh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sản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phẩm</a:t>
            </a:r>
            <a:r>
              <a:rPr lang="en-US" i="1" dirty="0">
                <a:latin typeface="Arial" panose="020B0604020202020204" pitchFamily="34" charset="0"/>
                <a:cs typeface="Arial" panose="020B0604020202020204" pitchFamily="34" charset="0"/>
              </a:rPr>
              <a:t>.</a:t>
            </a:r>
          </a:p>
        </p:txBody>
      </p:sp>
      <p:sp>
        <p:nvSpPr>
          <p:cNvPr id="7" name="Rectangle 6"/>
          <p:cNvSpPr/>
          <p:nvPr/>
        </p:nvSpPr>
        <p:spPr>
          <a:xfrm>
            <a:off x="3172345" y="2934911"/>
            <a:ext cx="6559809" cy="646331"/>
          </a:xfrm>
          <a:prstGeom prst="rect">
            <a:avLst/>
          </a:prstGeom>
          <a:ln>
            <a:solidFill>
              <a:schemeClr val="accent1"/>
            </a:solidFill>
          </a:ln>
        </p:spPr>
        <p:txBody>
          <a:bodyPr wrap="none">
            <a:spAutoFit/>
          </a:bodyPr>
          <a:lstStyle/>
          <a:p>
            <a:pPr marL="285750" indent="-285750" algn="ctr">
              <a:buFont typeface="Arial" panose="020B0604020202020204" pitchFamily="34" charset="0"/>
              <a:buChar char="•"/>
            </a:pPr>
            <a:r>
              <a:rPr lang="en-US" b="1" dirty="0" err="1">
                <a:latin typeface="Arial" panose="020B0604020202020204" pitchFamily="34" charset="0"/>
                <a:cs typeface="Arial" panose="020B0604020202020204" pitchFamily="34" charset="0"/>
              </a:rPr>
              <a:t>Đặt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mua</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trực</a:t>
            </a:r>
            <a:r>
              <a:rPr lang="en-US" b="1" dirty="0">
                <a:latin typeface="Arial" panose="020B0604020202020204" pitchFamily="34" charset="0"/>
                <a:cs typeface="Arial" panose="020B0604020202020204" pitchFamily="34" charset="0"/>
              </a:rPr>
              <a:t> </a:t>
            </a:r>
            <a:r>
              <a:rPr lang="en-US" b="1" dirty="0" err="1" smtClean="0">
                <a:latin typeface="Arial" panose="020B0604020202020204" pitchFamily="34" charset="0"/>
                <a:cs typeface="Arial" panose="020B0604020202020204" pitchFamily="34" charset="0"/>
              </a:rPr>
              <a:t>tuyến</a:t>
            </a:r>
            <a:endParaRPr lang="en-US" b="1" dirty="0" smtClean="0">
              <a:latin typeface="Arial" panose="020B0604020202020204" pitchFamily="34" charset="0"/>
              <a:cs typeface="Arial" panose="020B0604020202020204" pitchFamily="34" charset="0"/>
            </a:endParaRPr>
          </a:p>
          <a:p>
            <a:r>
              <a:rPr lang="en-US" i="1" dirty="0" err="1">
                <a:latin typeface="Arial" panose="020B0604020202020204" pitchFamily="34" charset="0"/>
                <a:cs typeface="Arial" panose="020B0604020202020204" pitchFamily="34" charset="0"/>
              </a:rPr>
              <a:t>Hỗ</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trợ</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khách</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hàng</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tìm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kiếm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và</a:t>
            </a:r>
            <a:r>
              <a:rPr lang="en-US" i="1" dirty="0">
                <a:latin typeface="Arial" panose="020B0604020202020204" pitchFamily="34" charset="0"/>
                <a:cs typeface="Arial" panose="020B0604020202020204" pitchFamily="34" charset="0"/>
              </a:rPr>
              <a:t> </a:t>
            </a:r>
            <a:r>
              <a:rPr lang="en-US" i="1" dirty="0" err="1" smtClean="0">
                <a:latin typeface="Arial" panose="020B0604020202020204" pitchFamily="34" charset="0"/>
                <a:cs typeface="Arial" panose="020B0604020202020204" pitchFamily="34" charset="0"/>
              </a:rPr>
              <a:t>đặt</a:t>
            </a:r>
            <a:r>
              <a:rPr lang="en-US" i="1" dirty="0" smtClean="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mua</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sản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phẩm</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thuận</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tiện</a:t>
            </a:r>
            <a:r>
              <a:rPr lang="en-US" i="1" dirty="0">
                <a:latin typeface="Arial" panose="020B0604020202020204" pitchFamily="34" charset="0"/>
                <a:cs typeface="Arial" panose="020B0604020202020204" pitchFamily="34" charset="0"/>
              </a:rPr>
              <a:t>.</a:t>
            </a:r>
          </a:p>
        </p:txBody>
      </p:sp>
      <p:sp>
        <p:nvSpPr>
          <p:cNvPr id="8" name="Rectangle 7"/>
          <p:cNvSpPr/>
          <p:nvPr/>
        </p:nvSpPr>
        <p:spPr>
          <a:xfrm>
            <a:off x="479478" y="3788351"/>
            <a:ext cx="6559809" cy="646331"/>
          </a:xfrm>
          <a:prstGeom prst="rect">
            <a:avLst/>
          </a:prstGeom>
          <a:ln>
            <a:solidFill>
              <a:schemeClr val="accent1"/>
            </a:solidFill>
          </a:ln>
        </p:spPr>
        <p:txBody>
          <a:bodyPr wrap="square">
            <a:spAutoFit/>
          </a:bodyPr>
          <a:lstStyle/>
          <a:p>
            <a:pPr marL="285750" indent="-285750" algn="ctr">
              <a:buFont typeface="Arial" panose="020B0604020202020204" pitchFamily="34" charset="0"/>
              <a:buChar char="•"/>
            </a:pPr>
            <a:r>
              <a:rPr lang="en-US" b="1" dirty="0" err="1">
                <a:latin typeface="Arial" panose="020B0604020202020204" pitchFamily="34" charset="0"/>
                <a:cs typeface="Arial" panose="020B0604020202020204" pitchFamily="34" charset="0"/>
              </a:rPr>
              <a:t>Quản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lý</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khoa</a:t>
            </a:r>
            <a:r>
              <a:rPr lang="en-US" b="1" dirty="0">
                <a:latin typeface="Arial" panose="020B0604020202020204" pitchFamily="34" charset="0"/>
                <a:cs typeface="Arial" panose="020B0604020202020204" pitchFamily="34" charset="0"/>
              </a:rPr>
              <a:t> </a:t>
            </a:r>
            <a:r>
              <a:rPr lang="en-US" b="1" dirty="0" err="1" smtClean="0">
                <a:latin typeface="Arial" panose="020B0604020202020204" pitchFamily="34" charset="0"/>
                <a:cs typeface="Arial" panose="020B0604020202020204" pitchFamily="34" charset="0"/>
              </a:rPr>
              <a:t>học</a:t>
            </a:r>
            <a:endParaRPr lang="en-US" b="1" dirty="0" smtClean="0">
              <a:latin typeface="Arial" panose="020B0604020202020204" pitchFamily="34" charset="0"/>
              <a:cs typeface="Arial" panose="020B0604020202020204" pitchFamily="34" charset="0"/>
            </a:endParaRPr>
          </a:p>
          <a:p>
            <a:pPr algn="ctr"/>
            <a:r>
              <a:rPr lang="vi-VN" i="1" dirty="0">
                <a:latin typeface="Arial" panose="020B0604020202020204" pitchFamily="34" charset="0"/>
                <a:cs typeface="Arial" panose="020B0604020202020204" pitchFamily="34" charset="0"/>
              </a:rPr>
              <a:t>Hỗ trợ quản lý đơn hàng, khách hàng và sản phẩm khoa học.</a:t>
            </a:r>
            <a:endParaRPr lang="en-US" i="1" dirty="0">
              <a:latin typeface="Arial" panose="020B0604020202020204" pitchFamily="34" charset="0"/>
              <a:cs typeface="Arial" panose="020B0604020202020204" pitchFamily="34" charset="0"/>
            </a:endParaRPr>
          </a:p>
        </p:txBody>
      </p:sp>
      <p:sp>
        <p:nvSpPr>
          <p:cNvPr id="9" name="Rectangle 8"/>
          <p:cNvSpPr/>
          <p:nvPr/>
        </p:nvSpPr>
        <p:spPr>
          <a:xfrm>
            <a:off x="3172345" y="4835739"/>
            <a:ext cx="6559809" cy="646331"/>
          </a:xfrm>
          <a:prstGeom prst="rect">
            <a:avLst/>
          </a:prstGeom>
          <a:ln>
            <a:solidFill>
              <a:schemeClr val="accent1"/>
            </a:solidFill>
          </a:ln>
        </p:spPr>
        <p:txBody>
          <a:bodyPr wrap="square">
            <a:spAutoFit/>
          </a:bodyPr>
          <a:lstStyle/>
          <a:p>
            <a:pPr marL="285750" indent="-285750" algn="ctr">
              <a:buFont typeface="Arial" panose="020B0604020202020204" pitchFamily="34" charset="0"/>
              <a:buChar char="•"/>
            </a:pPr>
            <a:r>
              <a:rPr lang="en-US" b="1" dirty="0" err="1"/>
              <a:t>Hiệu</a:t>
            </a:r>
            <a:r>
              <a:rPr lang="en-US" b="1" dirty="0"/>
              <a:t> </a:t>
            </a:r>
            <a:r>
              <a:rPr lang="en-US" b="1" dirty="0" err="1"/>
              <a:t>quả</a:t>
            </a:r>
            <a:r>
              <a:rPr lang="en-US" b="1" dirty="0"/>
              <a:t> </a:t>
            </a:r>
            <a:r>
              <a:rPr lang="en-US" b="1" dirty="0" err="1"/>
              <a:t>kinh</a:t>
            </a:r>
            <a:r>
              <a:rPr lang="en-US" b="1" dirty="0"/>
              <a:t> </a:t>
            </a:r>
            <a:r>
              <a:rPr lang="en-US" b="1" dirty="0" err="1" smtClean="0"/>
              <a:t>doanh</a:t>
            </a:r>
            <a:endParaRPr lang="en-US" b="1" dirty="0" smtClean="0"/>
          </a:p>
          <a:p>
            <a:pPr algn="ctr"/>
            <a:r>
              <a:rPr lang="en-US" i="1" dirty="0" err="1"/>
              <a:t>Nâng</a:t>
            </a:r>
            <a:r>
              <a:rPr lang="en-US" i="1" dirty="0"/>
              <a:t> </a:t>
            </a:r>
            <a:r>
              <a:rPr lang="en-US" i="1" dirty="0" err="1"/>
              <a:t>cao</a:t>
            </a:r>
            <a:r>
              <a:rPr lang="en-US" i="1" dirty="0"/>
              <a:t> </a:t>
            </a:r>
            <a:r>
              <a:rPr lang="en-US" i="1" dirty="0" err="1"/>
              <a:t>hiệu</a:t>
            </a:r>
            <a:r>
              <a:rPr lang="en-US" i="1" dirty="0"/>
              <a:t> </a:t>
            </a:r>
            <a:r>
              <a:rPr lang="en-US" i="1" dirty="0" err="1"/>
              <a:t>quả</a:t>
            </a:r>
            <a:r>
              <a:rPr lang="en-US" i="1" dirty="0"/>
              <a:t> </a:t>
            </a:r>
            <a:r>
              <a:rPr lang="en-US" i="1" dirty="0" err="1"/>
              <a:t>kinh</a:t>
            </a:r>
            <a:r>
              <a:rPr lang="en-US" i="1" dirty="0"/>
              <a:t> </a:t>
            </a:r>
            <a:r>
              <a:rPr lang="en-US" i="1" dirty="0" err="1"/>
              <a:t>doanh</a:t>
            </a:r>
            <a:r>
              <a:rPr lang="en-US" i="1" dirty="0"/>
              <a:t>, </a:t>
            </a:r>
            <a:r>
              <a:rPr lang="en-US" i="1" dirty="0" err="1"/>
              <a:t>giảm</a:t>
            </a:r>
            <a:r>
              <a:rPr lang="en-US" i="1" dirty="0"/>
              <a:t> chi </a:t>
            </a:r>
            <a:r>
              <a:rPr lang="en-US" i="1" dirty="0" err="1"/>
              <a:t>phí</a:t>
            </a:r>
            <a:r>
              <a:rPr lang="en-US" i="1" dirty="0"/>
              <a:t> </a:t>
            </a:r>
            <a:r>
              <a:rPr lang="en-US" i="1" dirty="0" err="1"/>
              <a:t>vận</a:t>
            </a:r>
            <a:r>
              <a:rPr lang="en-US" i="1" dirty="0"/>
              <a:t> </a:t>
            </a:r>
            <a:r>
              <a:rPr lang="en-US" i="1" dirty="0" err="1"/>
              <a:t>hành</a:t>
            </a:r>
            <a:r>
              <a:rPr lang="en-US" dirty="0"/>
              <a:t>.</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285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randombar(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438" y="139817"/>
            <a:ext cx="9372677"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trị</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vi-VN" sz="1800" i="1" dirty="0">
                <a:latin typeface="Arial" panose="020B0604020202020204" pitchFamily="34" charset="0"/>
                <a:cs typeface="Arial" panose="020B0604020202020204" pitchFamily="34" charset="0"/>
              </a:rPr>
              <a:t>Phân định rõ quyền hạn và tính năng giữa người mua và người quản lý hệ thống</a:t>
            </a:r>
            <a:endParaRPr lang="en-US" sz="1800" i="1"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29818903"/>
              </p:ext>
            </p:extLst>
          </p:nvPr>
        </p:nvGraphicFramePr>
        <p:xfrm>
          <a:off x="636941" y="2221293"/>
          <a:ext cx="8876174" cy="2897778"/>
        </p:xfrm>
        <a:graphic>
          <a:graphicData uri="http://schemas.openxmlformats.org/drawingml/2006/table">
            <a:tbl>
              <a:tblPr firstRow="1" bandRow="1">
                <a:tableStyleId>{5C22544A-7EE6-4342-B048-85BDC9FD1C3A}</a:tableStyleId>
              </a:tblPr>
              <a:tblGrid>
                <a:gridCol w="4438087">
                  <a:extLst>
                    <a:ext uri="{9D8B030D-6E8A-4147-A177-3AD203B41FA5}">
                      <a16:colId xmlns:a16="http://schemas.microsoft.com/office/drawing/2014/main" val="1816940544"/>
                    </a:ext>
                  </a:extLst>
                </a:gridCol>
                <a:gridCol w="4438087">
                  <a:extLst>
                    <a:ext uri="{9D8B030D-6E8A-4147-A177-3AD203B41FA5}">
                      <a16:colId xmlns:a16="http://schemas.microsoft.com/office/drawing/2014/main" val="95635893"/>
                    </a:ext>
                  </a:extLst>
                </a:gridCol>
              </a:tblGrid>
              <a:tr h="589018">
                <a:tc>
                  <a:txBody>
                    <a:bodyPr/>
                    <a:lstStyle/>
                    <a:p>
                      <a:pPr algn="ctr"/>
                      <a:r>
                        <a:rPr lang="vi-VN" sz="1800" b="0" i="0" kern="1200" dirty="0" smtClean="0">
                          <a:solidFill>
                            <a:schemeClr val="lt1"/>
                          </a:solidFill>
                          <a:effectLst/>
                          <a:latin typeface="+mn-lt"/>
                          <a:ea typeface="+mn-ea"/>
                          <a:cs typeface="+mn-cs"/>
                        </a:rPr>
                        <a:t>Đối tượng</a:t>
                      </a:r>
                      <a:endParaRPr lang="en-US" dirty="0"/>
                    </a:p>
                  </a:txBody>
                  <a:tcPr anchor="ctr"/>
                </a:tc>
                <a:tc>
                  <a:txBody>
                    <a:bodyPr/>
                    <a:lstStyle/>
                    <a:p>
                      <a:pPr algn="ctr"/>
                      <a:r>
                        <a:rPr lang="en-US" sz="1800" b="0" i="0" kern="1200" dirty="0" err="1" smtClean="0">
                          <a:solidFill>
                            <a:schemeClr val="lt1"/>
                          </a:solidFill>
                          <a:effectLst/>
                          <a:latin typeface="+mn-lt"/>
                          <a:ea typeface="+mn-ea"/>
                          <a:cs typeface="+mn-cs"/>
                        </a:rPr>
                        <a:t>Chức</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năng</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chính</a:t>
                      </a:r>
                      <a:endParaRPr lang="en-US" dirty="0"/>
                    </a:p>
                  </a:txBody>
                  <a:tcPr anchor="ctr"/>
                </a:tc>
                <a:extLst>
                  <a:ext uri="{0D108BD9-81ED-4DB2-BD59-A6C34878D82A}">
                    <a16:rowId xmlns:a16="http://schemas.microsoft.com/office/drawing/2014/main" val="1235585402"/>
                  </a:ext>
                </a:extLst>
              </a:tr>
              <a:tr h="1154380">
                <a:tc>
                  <a:txBody>
                    <a:bodyPr/>
                    <a:lstStyle/>
                    <a:p>
                      <a:pPr algn="ctr"/>
                      <a:r>
                        <a:rPr lang="en-US" sz="1800" b="0" i="0" kern="1200" dirty="0" err="1" smtClean="0">
                          <a:solidFill>
                            <a:schemeClr val="dk1"/>
                          </a:solidFill>
                          <a:effectLst/>
                          <a:latin typeface="+mn-lt"/>
                          <a:ea typeface="+mn-ea"/>
                          <a:cs typeface="+mn-cs"/>
                        </a:rPr>
                        <a:t>Khách</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hàng</a:t>
                      </a:r>
                      <a:endParaRPr lang="en-US" dirty="0"/>
                    </a:p>
                  </a:txBody>
                  <a:tcPr anchor="ctr"/>
                </a:tc>
                <a:tc>
                  <a:txBody>
                    <a:bodyPr/>
                    <a:lstStyle/>
                    <a:p>
                      <a:pPr algn="ctr"/>
                      <a:r>
                        <a:rPr lang="vi-VN" sz="1800" b="0" i="0" kern="1200" dirty="0" smtClean="0">
                          <a:solidFill>
                            <a:schemeClr val="dk1"/>
                          </a:solidFill>
                          <a:effectLst/>
                          <a:latin typeface="+mn-lt"/>
                          <a:ea typeface="+mn-ea"/>
                          <a:cs typeface="+mn-cs"/>
                        </a:rPr>
                        <a:t>Tìm kiếm, xem chi tiết, đăng ký/đăng nhập, giỏ hàng, đặt hàng, theo dõi đơn hàng.</a:t>
                      </a:r>
                      <a:endParaRPr lang="en-US" dirty="0"/>
                    </a:p>
                  </a:txBody>
                  <a:tcPr anchor="ctr"/>
                </a:tc>
                <a:extLst>
                  <a:ext uri="{0D108BD9-81ED-4DB2-BD59-A6C34878D82A}">
                    <a16:rowId xmlns:a16="http://schemas.microsoft.com/office/drawing/2014/main" val="1125774111"/>
                  </a:ext>
                </a:extLst>
              </a:tr>
              <a:tr h="1154380">
                <a:tc>
                  <a:txBody>
                    <a:bodyPr/>
                    <a:lstStyle/>
                    <a:p>
                      <a:pPr algn="ctr"/>
                      <a:r>
                        <a:rPr lang="en-US" sz="1800" b="0" i="0" kern="1200" dirty="0" err="1" smtClean="0">
                          <a:solidFill>
                            <a:schemeClr val="dk1"/>
                          </a:solidFill>
                          <a:effectLst/>
                          <a:latin typeface="+mn-lt"/>
                          <a:ea typeface="+mn-ea"/>
                          <a:cs typeface="+mn-cs"/>
                        </a:rPr>
                        <a:t>Quản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trị</a:t>
                      </a:r>
                      <a:endParaRPr lang="en-US" dirty="0"/>
                    </a:p>
                  </a:txBody>
                  <a:tcPr anchor="ctr"/>
                </a:tc>
                <a:tc>
                  <a:txBody>
                    <a:bodyPr/>
                    <a:lstStyle/>
                    <a:p>
                      <a:pPr algn="ctr"/>
                      <a:r>
                        <a:rPr lang="vi-VN" sz="1800" b="0" i="0" kern="1200" dirty="0" smtClean="0">
                          <a:solidFill>
                            <a:schemeClr val="dk1"/>
                          </a:solidFill>
                          <a:effectLst/>
                          <a:latin typeface="+mn-lt"/>
                          <a:ea typeface="+mn-ea"/>
                          <a:cs typeface="+mn-cs"/>
                        </a:rPr>
                        <a:t>Quản lý sản phẩm (thêm/sửa/xóa), cập nhật giá, quản lý người dùng, xác nhận đơn hàng.</a:t>
                      </a:r>
                      <a:endParaRPr lang="en-US" dirty="0"/>
                    </a:p>
                  </a:txBody>
                  <a:tcPr anchor="ctr"/>
                </a:tc>
                <a:extLst>
                  <a:ext uri="{0D108BD9-81ED-4DB2-BD59-A6C34878D82A}">
                    <a16:rowId xmlns:a16="http://schemas.microsoft.com/office/drawing/2014/main" val="1882171936"/>
                  </a:ext>
                </a:extLst>
              </a:tr>
            </a:tbl>
          </a:graphicData>
        </a:graphic>
      </p:graphicFrame>
    </p:spTree>
    <p:extLst>
      <p:ext uri="{BB962C8B-B14F-4D97-AF65-F5344CB8AC3E}">
        <p14:creationId xmlns:p14="http://schemas.microsoft.com/office/powerpoint/2010/main" val="338933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940" y="139817"/>
            <a:ext cx="8596668"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lõi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SQL </a:t>
            </a:r>
            <a:r>
              <a:rPr lang="en-US" dirty="0" smtClean="0">
                <a:latin typeface="Arial" panose="020B0604020202020204" pitchFamily="34" charset="0"/>
                <a:cs typeface="Arial" panose="020B0604020202020204" pitchFamily="34" charset="0"/>
              </a:rPr>
              <a:t>Server</a:t>
            </a:r>
            <a:br>
              <a:rPr lang="en-US" dirty="0" smtClean="0">
                <a:latin typeface="Arial" panose="020B0604020202020204" pitchFamily="34" charset="0"/>
                <a:cs typeface="Arial" panose="020B0604020202020204" pitchFamily="34" charset="0"/>
              </a:rPr>
            </a:br>
            <a:r>
              <a:rPr lang="vi-VN" sz="1800" i="1" dirty="0">
                <a:latin typeface="+mn-lt"/>
              </a:rPr>
              <a:t>Cấu trúc các bảng dữ liệu phục vụ lưu trữ thông tin hệ </a:t>
            </a:r>
            <a:r>
              <a:rPr lang="vi-VN" sz="1800" i="1" dirty="0" smtClean="0">
                <a:latin typeface="+mn-lt"/>
              </a:rPr>
              <a:t>thốn</a:t>
            </a:r>
            <a:r>
              <a:rPr lang="en-US" sz="1800" i="1" dirty="0" smtClean="0">
                <a:latin typeface="+mn-lt"/>
              </a:rPr>
              <a:t>g.</a:t>
            </a:r>
            <a:endParaRPr lang="en-US" sz="1800" i="1" dirty="0">
              <a:latin typeface="+mn-lt"/>
              <a:cs typeface="Arial" panose="020B0604020202020204" pitchFamily="34" charset="0"/>
            </a:endParaRPr>
          </a:p>
        </p:txBody>
      </p:sp>
      <p:pic>
        <p:nvPicPr>
          <p:cNvPr id="4" name="Picture 3"/>
          <p:cNvPicPr>
            <a:picLocks noChangeAspect="1"/>
          </p:cNvPicPr>
          <p:nvPr/>
        </p:nvPicPr>
        <p:blipFill>
          <a:blip r:embed="rId2"/>
          <a:stretch>
            <a:fillRect/>
          </a:stretch>
        </p:blipFill>
        <p:spPr>
          <a:xfrm>
            <a:off x="215940" y="2475744"/>
            <a:ext cx="4658064" cy="3077770"/>
          </a:xfrm>
          <a:prstGeom prst="rect">
            <a:avLst/>
          </a:prstGeom>
        </p:spPr>
      </p:pic>
      <p:pic>
        <p:nvPicPr>
          <p:cNvPr id="5" name="Picture 4"/>
          <p:cNvPicPr>
            <a:picLocks noChangeAspect="1"/>
          </p:cNvPicPr>
          <p:nvPr/>
        </p:nvPicPr>
        <p:blipFill rotWithShape="1">
          <a:blip r:embed="rId3"/>
          <a:srcRect r="77889"/>
          <a:stretch/>
        </p:blipFill>
        <p:spPr>
          <a:xfrm>
            <a:off x="5097552" y="1460617"/>
            <a:ext cx="1026411" cy="5125615"/>
          </a:xfrm>
          <a:prstGeom prst="rect">
            <a:avLst/>
          </a:prstGeom>
        </p:spPr>
      </p:pic>
      <p:sp>
        <p:nvSpPr>
          <p:cNvPr id="6" name="Rectangle 5"/>
          <p:cNvSpPr/>
          <p:nvPr/>
        </p:nvSpPr>
        <p:spPr>
          <a:xfrm>
            <a:off x="6123963" y="1598848"/>
            <a:ext cx="2797561" cy="369332"/>
          </a:xfrm>
          <a:prstGeom prst="rect">
            <a:avLst/>
          </a:prstGeom>
        </p:spPr>
        <p:txBody>
          <a:bodyPr wrap="none">
            <a:spAutoFit/>
          </a:bodyPr>
          <a:lstStyle/>
          <a:p>
            <a:r>
              <a:rPr lang="vi-VN" dirty="0">
                <a:solidFill>
                  <a:srgbClr val="0A0D17"/>
                </a:solidFill>
                <a:latin typeface="Lexend"/>
              </a:rPr>
              <a:t>Bảng người dùng (Users)</a:t>
            </a:r>
            <a:endParaRPr lang="en-US" dirty="0"/>
          </a:p>
        </p:txBody>
      </p:sp>
      <p:sp>
        <p:nvSpPr>
          <p:cNvPr id="7" name="Rectangle 6"/>
          <p:cNvSpPr/>
          <p:nvPr/>
        </p:nvSpPr>
        <p:spPr>
          <a:xfrm>
            <a:off x="6123963" y="2670361"/>
            <a:ext cx="2929007" cy="369332"/>
          </a:xfrm>
          <a:prstGeom prst="rect">
            <a:avLst/>
          </a:prstGeom>
        </p:spPr>
        <p:txBody>
          <a:bodyPr wrap="none">
            <a:spAutoFit/>
          </a:bodyPr>
          <a:lstStyle/>
          <a:p>
            <a:r>
              <a:rPr lang="en-US" dirty="0" err="1">
                <a:solidFill>
                  <a:srgbClr val="0A0D17"/>
                </a:solidFill>
                <a:latin typeface="Lexend"/>
              </a:rPr>
              <a:t>Bảng</a:t>
            </a:r>
            <a:r>
              <a:rPr lang="en-US" dirty="0">
                <a:solidFill>
                  <a:srgbClr val="0A0D17"/>
                </a:solidFill>
                <a:latin typeface="Lexend"/>
              </a:rPr>
              <a:t> </a:t>
            </a:r>
            <a:r>
              <a:rPr lang="en-US" dirty="0" err="1">
                <a:solidFill>
                  <a:srgbClr val="0A0D17"/>
                </a:solidFill>
                <a:latin typeface="Lexend"/>
              </a:rPr>
              <a:t>sản</a:t>
            </a:r>
            <a:r>
              <a:rPr lang="en-US" dirty="0">
                <a:solidFill>
                  <a:srgbClr val="0A0D17"/>
                </a:solidFill>
                <a:latin typeface="Lexend"/>
              </a:rPr>
              <a:t> </a:t>
            </a:r>
            <a:r>
              <a:rPr lang="en-US" dirty="0" err="1">
                <a:solidFill>
                  <a:srgbClr val="0A0D17"/>
                </a:solidFill>
                <a:latin typeface="Lexend"/>
              </a:rPr>
              <a:t>phẩm</a:t>
            </a:r>
            <a:r>
              <a:rPr lang="en-US" dirty="0">
                <a:solidFill>
                  <a:srgbClr val="0A0D17"/>
                </a:solidFill>
                <a:latin typeface="Lexend"/>
              </a:rPr>
              <a:t> (Products)</a:t>
            </a:r>
            <a:endParaRPr lang="en-US" dirty="0"/>
          </a:p>
        </p:txBody>
      </p:sp>
      <p:sp>
        <p:nvSpPr>
          <p:cNvPr id="8" name="Rectangle 7"/>
          <p:cNvSpPr/>
          <p:nvPr/>
        </p:nvSpPr>
        <p:spPr>
          <a:xfrm>
            <a:off x="6120801" y="3654092"/>
            <a:ext cx="2694969" cy="369332"/>
          </a:xfrm>
          <a:prstGeom prst="rect">
            <a:avLst/>
          </a:prstGeom>
        </p:spPr>
        <p:txBody>
          <a:bodyPr wrap="none">
            <a:spAutoFit/>
          </a:bodyPr>
          <a:lstStyle/>
          <a:p>
            <a:r>
              <a:rPr lang="vi-VN" dirty="0">
                <a:solidFill>
                  <a:srgbClr val="0A0D17"/>
                </a:solidFill>
                <a:latin typeface="Lexend"/>
              </a:rPr>
              <a:t>Bảng đơn hàng (Orders)</a:t>
            </a:r>
            <a:endParaRPr lang="en-US" dirty="0"/>
          </a:p>
        </p:txBody>
      </p:sp>
      <p:sp>
        <p:nvSpPr>
          <p:cNvPr id="9" name="Rectangle 8"/>
          <p:cNvSpPr/>
          <p:nvPr/>
        </p:nvSpPr>
        <p:spPr>
          <a:xfrm>
            <a:off x="6120801" y="4732611"/>
            <a:ext cx="2502608" cy="369332"/>
          </a:xfrm>
          <a:prstGeom prst="rect">
            <a:avLst/>
          </a:prstGeom>
        </p:spPr>
        <p:txBody>
          <a:bodyPr wrap="none">
            <a:spAutoFit/>
          </a:bodyPr>
          <a:lstStyle/>
          <a:p>
            <a:r>
              <a:rPr lang="vi-VN" dirty="0">
                <a:solidFill>
                  <a:srgbClr val="0A0D17"/>
                </a:solidFill>
                <a:latin typeface="Lexend"/>
              </a:rPr>
              <a:t>Bảng chi tiết đơn hàng</a:t>
            </a:r>
            <a:endParaRPr lang="en-US" dirty="0"/>
          </a:p>
        </p:txBody>
      </p:sp>
      <p:sp>
        <p:nvSpPr>
          <p:cNvPr id="10" name="Rectangle 9"/>
          <p:cNvSpPr/>
          <p:nvPr/>
        </p:nvSpPr>
        <p:spPr>
          <a:xfrm>
            <a:off x="6120801" y="5689699"/>
            <a:ext cx="2326278" cy="369332"/>
          </a:xfrm>
          <a:prstGeom prst="rect">
            <a:avLst/>
          </a:prstGeom>
        </p:spPr>
        <p:txBody>
          <a:bodyPr wrap="none">
            <a:spAutoFit/>
          </a:bodyPr>
          <a:lstStyle/>
          <a:p>
            <a:r>
              <a:rPr lang="en-US" dirty="0" err="1">
                <a:solidFill>
                  <a:srgbClr val="0A0D17"/>
                </a:solidFill>
                <a:latin typeface="Lexend"/>
              </a:rPr>
              <a:t>Bảng</a:t>
            </a:r>
            <a:r>
              <a:rPr lang="en-US" dirty="0">
                <a:solidFill>
                  <a:srgbClr val="0A0D17"/>
                </a:solidFill>
                <a:latin typeface="Lexend"/>
              </a:rPr>
              <a:t> </a:t>
            </a:r>
            <a:r>
              <a:rPr lang="en-US" dirty="0" err="1">
                <a:solidFill>
                  <a:srgbClr val="0A0D17"/>
                </a:solidFill>
                <a:latin typeface="Lexend"/>
              </a:rPr>
              <a:t>giỏ</a:t>
            </a:r>
            <a:r>
              <a:rPr lang="en-US" dirty="0">
                <a:solidFill>
                  <a:srgbClr val="0A0D17"/>
                </a:solidFill>
                <a:latin typeface="Lexend"/>
              </a:rPr>
              <a:t> </a:t>
            </a:r>
            <a:r>
              <a:rPr lang="en-US" dirty="0" err="1">
                <a:solidFill>
                  <a:srgbClr val="0A0D17"/>
                </a:solidFill>
                <a:latin typeface="Lexend"/>
              </a:rPr>
              <a:t>hàng</a:t>
            </a:r>
            <a:r>
              <a:rPr lang="en-US" dirty="0">
                <a:solidFill>
                  <a:srgbClr val="0A0D17"/>
                </a:solidFill>
                <a:latin typeface="Lexend"/>
              </a:rPr>
              <a:t> (Cart)</a:t>
            </a:r>
            <a:endParaRPr lang="en-US" dirty="0"/>
          </a:p>
        </p:txBody>
      </p:sp>
      <p:sp>
        <p:nvSpPr>
          <p:cNvPr id="11" name="Rectangle 10"/>
          <p:cNvSpPr/>
          <p:nvPr/>
        </p:nvSpPr>
        <p:spPr>
          <a:xfrm>
            <a:off x="6120801" y="1982683"/>
            <a:ext cx="3518149" cy="276999"/>
          </a:xfrm>
          <a:prstGeom prst="rect">
            <a:avLst/>
          </a:prstGeom>
        </p:spPr>
        <p:txBody>
          <a:bodyPr wrap="square">
            <a:spAutoFit/>
          </a:bodyPr>
          <a:lstStyle/>
          <a:p>
            <a:r>
              <a:rPr lang="vi-VN" sz="1200" i="1" dirty="0"/>
              <a:t>Lưu trữ thông tin tài khoản, email, mật </a:t>
            </a:r>
            <a:r>
              <a:rPr lang="vi-VN" sz="1200" i="1" dirty="0" smtClean="0"/>
              <a:t>khẩu.</a:t>
            </a:r>
            <a:endParaRPr lang="en-US" sz="1200" i="1" dirty="0"/>
          </a:p>
        </p:txBody>
      </p:sp>
      <p:sp>
        <p:nvSpPr>
          <p:cNvPr id="12" name="Rectangle 11"/>
          <p:cNvSpPr/>
          <p:nvPr/>
        </p:nvSpPr>
        <p:spPr>
          <a:xfrm>
            <a:off x="6120801" y="3066012"/>
            <a:ext cx="4043094" cy="276999"/>
          </a:xfrm>
          <a:prstGeom prst="rect">
            <a:avLst/>
          </a:prstGeom>
        </p:spPr>
        <p:txBody>
          <a:bodyPr wrap="none">
            <a:spAutoFit/>
          </a:bodyPr>
          <a:lstStyle/>
          <a:p>
            <a:r>
              <a:rPr lang="vi-VN" sz="1200" i="1" dirty="0">
                <a:latin typeface="Inter"/>
              </a:rPr>
              <a:t>Chứa thông tin tên, giá, hình ảnh, mô tả và số lượng tồn.</a:t>
            </a:r>
            <a:endParaRPr lang="en-US" sz="1200" i="1" dirty="0"/>
          </a:p>
        </p:txBody>
      </p:sp>
      <p:sp>
        <p:nvSpPr>
          <p:cNvPr id="13" name="Rectangle 12"/>
          <p:cNvSpPr/>
          <p:nvPr/>
        </p:nvSpPr>
        <p:spPr>
          <a:xfrm>
            <a:off x="6120801" y="3971724"/>
            <a:ext cx="3684022" cy="276999"/>
          </a:xfrm>
          <a:prstGeom prst="rect">
            <a:avLst/>
          </a:prstGeom>
        </p:spPr>
        <p:txBody>
          <a:bodyPr wrap="none">
            <a:spAutoFit/>
          </a:bodyPr>
          <a:lstStyle/>
          <a:p>
            <a:r>
              <a:rPr lang="vi-VN" sz="1200" i="1" dirty="0">
                <a:latin typeface="Inter"/>
              </a:rPr>
              <a:t>Lưu thông tin khách hàng, ngày đặt và tổng số tiền.</a:t>
            </a:r>
            <a:endParaRPr lang="en-US" sz="1200" i="1" dirty="0"/>
          </a:p>
        </p:txBody>
      </p:sp>
      <p:sp>
        <p:nvSpPr>
          <p:cNvPr id="14" name="Rectangle 13"/>
          <p:cNvSpPr/>
          <p:nvPr/>
        </p:nvSpPr>
        <p:spPr>
          <a:xfrm>
            <a:off x="6120801" y="5073381"/>
            <a:ext cx="3754554" cy="276999"/>
          </a:xfrm>
          <a:prstGeom prst="rect">
            <a:avLst/>
          </a:prstGeom>
        </p:spPr>
        <p:txBody>
          <a:bodyPr wrap="none">
            <a:spAutoFit/>
          </a:bodyPr>
          <a:lstStyle/>
          <a:p>
            <a:r>
              <a:rPr lang="vi-VN" sz="1200" i="1" dirty="0">
                <a:latin typeface="Inter"/>
              </a:rPr>
              <a:t>Ghi nhận từng sản phẩm cụ thể trong mỗi đơn hàng.</a:t>
            </a:r>
            <a:endParaRPr lang="en-US" sz="1200" i="1" dirty="0"/>
          </a:p>
        </p:txBody>
      </p:sp>
      <p:sp>
        <p:nvSpPr>
          <p:cNvPr id="15" name="Rectangle 14"/>
          <p:cNvSpPr/>
          <p:nvPr/>
        </p:nvSpPr>
        <p:spPr>
          <a:xfrm>
            <a:off x="6120801" y="6012400"/>
            <a:ext cx="6096000" cy="461665"/>
          </a:xfrm>
          <a:prstGeom prst="rect">
            <a:avLst/>
          </a:prstGeom>
        </p:spPr>
        <p:txBody>
          <a:bodyPr>
            <a:spAutoFit/>
          </a:bodyPr>
          <a:lstStyle/>
          <a:p>
            <a:r>
              <a:rPr lang="vi-VN" sz="1200" i="1" dirty="0">
                <a:latin typeface="Inter"/>
              </a:rPr>
              <a:t>Lưu giữ các sản phẩm khách hàng đã chọn </a:t>
            </a:r>
            <a:endParaRPr lang="en-US" sz="1200" i="1" dirty="0" smtClean="0">
              <a:latin typeface="Inter"/>
            </a:endParaRPr>
          </a:p>
          <a:p>
            <a:r>
              <a:rPr lang="vi-VN" sz="1200" i="1" dirty="0" smtClean="0">
                <a:latin typeface="Inter"/>
              </a:rPr>
              <a:t>nhưng </a:t>
            </a:r>
            <a:r>
              <a:rPr lang="vi-VN" sz="1200" i="1" dirty="0">
                <a:latin typeface="Inter"/>
              </a:rPr>
              <a:t>chưa thanh toán.</a:t>
            </a:r>
            <a:endParaRPr lang="en-US" sz="1200" i="1" dirty="0"/>
          </a:p>
        </p:txBody>
      </p:sp>
    </p:spTree>
    <p:extLst>
      <p:ext uri="{BB962C8B-B14F-4D97-AF65-F5344CB8AC3E}">
        <p14:creationId xmlns:p14="http://schemas.microsoft.com/office/powerpoint/2010/main" val="288294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p:cTn id="47" dur="500" fill="hold"/>
                                        <p:tgtEl>
                                          <p:spTgt spid="12"/>
                                        </p:tgtEl>
                                        <p:attrNameLst>
                                          <p:attrName>ppt_w</p:attrName>
                                        </p:attrNameLst>
                                      </p:cBhvr>
                                      <p:tavLst>
                                        <p:tav tm="0">
                                          <p:val>
                                            <p:fltVal val="0"/>
                                          </p:val>
                                        </p:tav>
                                        <p:tav tm="100000">
                                          <p:val>
                                            <p:strVal val="#ppt_w"/>
                                          </p:val>
                                        </p:tav>
                                      </p:tavLst>
                                    </p:anim>
                                    <p:anim calcmode="lin" valueType="num">
                                      <p:cBhvr>
                                        <p:cTn id="48" dur="500" fill="hold"/>
                                        <p:tgtEl>
                                          <p:spTgt spid="12"/>
                                        </p:tgtEl>
                                        <p:attrNameLst>
                                          <p:attrName>ppt_h</p:attrName>
                                        </p:attrNameLst>
                                      </p:cBhvr>
                                      <p:tavLst>
                                        <p:tav tm="0">
                                          <p:val>
                                            <p:fltVal val="0"/>
                                          </p:val>
                                        </p:tav>
                                        <p:tav tm="100000">
                                          <p:val>
                                            <p:strVal val="#ppt_h"/>
                                          </p:val>
                                        </p:tav>
                                      </p:tavLst>
                                    </p:anim>
                                    <p:animEffect transition="in" filter="fade">
                                      <p:cBhvr>
                                        <p:cTn id="49" dur="500"/>
                                        <p:tgtEl>
                                          <p:spTgt spid="1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500" fill="hold"/>
                                        <p:tgtEl>
                                          <p:spTgt spid="14"/>
                                        </p:tgtEl>
                                        <p:attrNameLst>
                                          <p:attrName>ppt_w</p:attrName>
                                        </p:attrNameLst>
                                      </p:cBhvr>
                                      <p:tavLst>
                                        <p:tav tm="0">
                                          <p:val>
                                            <p:fltVal val="0"/>
                                          </p:val>
                                        </p:tav>
                                        <p:tav tm="100000">
                                          <p:val>
                                            <p:strVal val="#ppt_w"/>
                                          </p:val>
                                        </p:tav>
                                      </p:tavLst>
                                    </p:anim>
                                    <p:anim calcmode="lin" valueType="num">
                                      <p:cBhvr>
                                        <p:cTn id="58" dur="500" fill="hold"/>
                                        <p:tgtEl>
                                          <p:spTgt spid="14"/>
                                        </p:tgtEl>
                                        <p:attrNameLst>
                                          <p:attrName>ppt_h</p:attrName>
                                        </p:attrNameLst>
                                      </p:cBhvr>
                                      <p:tavLst>
                                        <p:tav tm="0">
                                          <p:val>
                                            <p:fltVal val="0"/>
                                          </p:val>
                                        </p:tav>
                                        <p:tav tm="100000">
                                          <p:val>
                                            <p:strVal val="#ppt_h"/>
                                          </p:val>
                                        </p:tav>
                                      </p:tavLst>
                                    </p:anim>
                                    <p:animEffect transition="in" filter="fade">
                                      <p:cBhvr>
                                        <p:cTn id="5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93" y="164984"/>
            <a:ext cx="8596668" cy="1320800"/>
          </a:xfrm>
        </p:spPr>
        <p:txBody>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tiết</a:t>
            </a:r>
            <a:r>
              <a:rPr lang="en-US" dirty="0">
                <a:latin typeface="Arial" panose="020B0604020202020204" pitchFamily="34" charset="0"/>
                <a:cs typeface="Arial" panose="020B0604020202020204" pitchFamily="34" charset="0"/>
              </a:rPr>
              <a:t> Use Case</a:t>
            </a:r>
          </a:p>
        </p:txBody>
      </p:sp>
      <p:sp>
        <p:nvSpPr>
          <p:cNvPr id="3" name="Content Placeholder 2"/>
          <p:cNvSpPr>
            <a:spLocks noGrp="1"/>
          </p:cNvSpPr>
          <p:nvPr>
            <p:ph idx="1"/>
          </p:nvPr>
        </p:nvSpPr>
        <p:spPr>
          <a:xfrm>
            <a:off x="509554" y="1195855"/>
            <a:ext cx="5211738" cy="1236952"/>
          </a:xfrm>
        </p:spPr>
        <p:txBody>
          <a:bodyPr>
            <a:noAutofit/>
          </a:bodyPr>
          <a:lstStyle/>
          <a:p>
            <a:r>
              <a:rPr lang="en-US" sz="1600" dirty="0" err="1"/>
              <a:t>Đăng</a:t>
            </a:r>
            <a:r>
              <a:rPr lang="en-US" sz="1600" dirty="0"/>
              <a:t> </a:t>
            </a:r>
            <a:r>
              <a:rPr lang="en-US" sz="1600" dirty="0" err="1" smtClean="0"/>
              <a:t>ký</a:t>
            </a:r>
            <a:endParaRPr lang="en-US" sz="1600" dirty="0" smtClean="0"/>
          </a:p>
          <a:p>
            <a:pPr marL="0" indent="0">
              <a:buNone/>
            </a:pPr>
            <a:r>
              <a:rPr lang="vi-VN" sz="1600" dirty="0"/>
              <a:t>Người dùng nhập Họ tên, Email, Mật </a:t>
            </a:r>
            <a:r>
              <a:rPr lang="vi-VN" sz="1600" dirty="0" smtClean="0"/>
              <a:t>khẩu</a:t>
            </a:r>
            <a:r>
              <a:rPr lang="en-US" sz="1600" dirty="0" smtClean="0"/>
              <a:t>, SĐT</a:t>
            </a:r>
            <a:r>
              <a:rPr lang="vi-VN" sz="1600" dirty="0" smtClean="0"/>
              <a:t>. </a:t>
            </a:r>
            <a:r>
              <a:rPr lang="vi-VN" sz="1600" dirty="0"/>
              <a:t>Hệ thống kiểm tra hợp lệ và lưu vào bảng USERS. Hậu điều kiện: tạo mới bản ghi người dùng.</a:t>
            </a:r>
            <a:endParaRPr lang="en-US" sz="1600" dirty="0"/>
          </a:p>
        </p:txBody>
      </p:sp>
      <p:sp>
        <p:nvSpPr>
          <p:cNvPr id="5" name="Content Placeholder 2"/>
          <p:cNvSpPr txBox="1">
            <a:spLocks/>
          </p:cNvSpPr>
          <p:nvPr/>
        </p:nvSpPr>
        <p:spPr>
          <a:xfrm>
            <a:off x="509554" y="2849885"/>
            <a:ext cx="5211738" cy="168017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dirty="0" err="1" smtClean="0"/>
              <a:t>Đăng</a:t>
            </a:r>
            <a:r>
              <a:rPr lang="en-US" sz="1600" dirty="0" smtClean="0"/>
              <a:t> </a:t>
            </a:r>
            <a:r>
              <a:rPr lang="en-US" sz="1600" dirty="0" err="1" smtClean="0"/>
              <a:t>nhập</a:t>
            </a:r>
            <a:endParaRPr lang="en-US" sz="1600" dirty="0" smtClean="0"/>
          </a:p>
          <a:p>
            <a:pPr marL="0" indent="0">
              <a:buNone/>
            </a:pPr>
            <a:r>
              <a:rPr lang="vi-VN" dirty="0"/>
              <a:t>Người dùng nhập Email và Mật khẩu. Hệ thống xác thực thông tin. Tiền điều kiện: Đã có tài khoản. Hậu điều kiện: người dùng được xác thực.</a:t>
            </a:r>
            <a:endParaRPr lang="en-US" sz="1600" dirty="0"/>
          </a:p>
        </p:txBody>
      </p:sp>
      <p:pic>
        <p:nvPicPr>
          <p:cNvPr id="6" name="Picture 5"/>
          <p:cNvPicPr>
            <a:picLocks noChangeAspect="1"/>
          </p:cNvPicPr>
          <p:nvPr/>
        </p:nvPicPr>
        <p:blipFill>
          <a:blip r:embed="rId2"/>
          <a:stretch>
            <a:fillRect/>
          </a:stretch>
        </p:blipFill>
        <p:spPr>
          <a:xfrm>
            <a:off x="5823112" y="164984"/>
            <a:ext cx="3849964" cy="5809389"/>
          </a:xfrm>
          <a:prstGeom prst="rect">
            <a:avLst/>
          </a:prstGeom>
        </p:spPr>
      </p:pic>
      <p:pic>
        <p:nvPicPr>
          <p:cNvPr id="7" name="Picture 6"/>
          <p:cNvPicPr>
            <a:picLocks noChangeAspect="1"/>
          </p:cNvPicPr>
          <p:nvPr/>
        </p:nvPicPr>
        <p:blipFill>
          <a:blip r:embed="rId3"/>
          <a:stretch>
            <a:fillRect/>
          </a:stretch>
        </p:blipFill>
        <p:spPr>
          <a:xfrm>
            <a:off x="9039110" y="863193"/>
            <a:ext cx="3085778" cy="3821666"/>
          </a:xfrm>
          <a:prstGeom prst="rect">
            <a:avLst/>
          </a:prstGeom>
        </p:spPr>
      </p:pic>
    </p:spTree>
    <p:extLst>
      <p:ext uri="{BB962C8B-B14F-4D97-AF65-F5344CB8AC3E}">
        <p14:creationId xmlns:p14="http://schemas.microsoft.com/office/powerpoint/2010/main" val="352342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2000"/>
                                        <p:tgtEl>
                                          <p:spTgt spid="3">
                                            <p:txEl>
                                              <p:pRg st="1" end="1"/>
                                            </p:txEl>
                                          </p:spTgt>
                                        </p:tgtEl>
                                      </p:cBhvr>
                                    </p:animEffect>
                                    <p:anim calcmode="lin" valueType="num">
                                      <p:cBhvr>
                                        <p:cTn id="15"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6" dur="2000" fill="hold"/>
                                        <p:tgtEl>
                                          <p:spTgt spid="3">
                                            <p:txEl>
                                              <p:pRg st="1" end="1"/>
                                            </p:txEl>
                                          </p:spTgt>
                                        </p:tgtEl>
                                        <p:attrNameLst>
                                          <p:attrName>ppt_h</p:attrName>
                                        </p:attrNameLst>
                                      </p:cBhvr>
                                      <p:tavLst>
                                        <p:tav tm="0">
                                          <p:val>
                                            <p:strVal val="#ppt_h"/>
                                          </p:val>
                                        </p:tav>
                                        <p:tav tm="100000">
                                          <p:val>
                                            <p:strVal val="#ppt_h"/>
                                          </p:val>
                                        </p:tav>
                                      </p:tavLst>
                                    </p:anim>
                                  </p:childTnLst>
                                </p:cTn>
                              </p:par>
                              <p:par>
                                <p:cTn id="17" presetID="45"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000"/>
                                        <p:tgtEl>
                                          <p:spTgt spid="5"/>
                                        </p:tgtEl>
                                      </p:cBhvr>
                                    </p:animEffect>
                                    <p:anim calcmode="lin" valueType="num">
                                      <p:cBhvr>
                                        <p:cTn id="20" dur="2000" fill="hold"/>
                                        <p:tgtEl>
                                          <p:spTgt spid="5"/>
                                        </p:tgtEl>
                                        <p:attrNameLst>
                                          <p:attrName>ppt_w</p:attrName>
                                        </p:attrNameLst>
                                      </p:cBhvr>
                                      <p:tavLst>
                                        <p:tav tm="0" fmla="#ppt_w*sin(2.5*pi*$)">
                                          <p:val>
                                            <p:fltVal val="0"/>
                                          </p:val>
                                        </p:tav>
                                        <p:tav tm="100000">
                                          <p:val>
                                            <p:fltVal val="1"/>
                                          </p:val>
                                        </p:tav>
                                      </p:tavLst>
                                    </p:anim>
                                    <p:anim calcmode="lin" valueType="num">
                                      <p:cBhvr>
                                        <p:cTn id="21" dur="2000" fill="hold"/>
                                        <p:tgtEl>
                                          <p:spTgt spid="5"/>
                                        </p:tgtEl>
                                        <p:attrNameLst>
                                          <p:attrName>ppt_h</p:attrName>
                                        </p:attrNameLst>
                                      </p:cBhvr>
                                      <p:tavLst>
                                        <p:tav tm="0">
                                          <p:val>
                                            <p:strVal val="#ppt_h"/>
                                          </p:val>
                                        </p:tav>
                                        <p:tav tm="100000">
                                          <p:val>
                                            <p:strVal val="#ppt_h"/>
                                          </p:val>
                                        </p:tav>
                                      </p:tavLst>
                                    </p:anim>
                                  </p:childTnLst>
                                </p:cTn>
                              </p:par>
                              <p:par>
                                <p:cTn id="22" presetID="45"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2000"/>
                                        <p:tgtEl>
                                          <p:spTgt spid="6"/>
                                        </p:tgtEl>
                                      </p:cBhvr>
                                    </p:animEffect>
                                    <p:anim calcmode="lin" valueType="num">
                                      <p:cBhvr>
                                        <p:cTn id="25" dur="2000" fill="hold"/>
                                        <p:tgtEl>
                                          <p:spTgt spid="6"/>
                                        </p:tgtEl>
                                        <p:attrNameLst>
                                          <p:attrName>ppt_w</p:attrName>
                                        </p:attrNameLst>
                                      </p:cBhvr>
                                      <p:tavLst>
                                        <p:tav tm="0" fmla="#ppt_w*sin(2.5*pi*$)">
                                          <p:val>
                                            <p:fltVal val="0"/>
                                          </p:val>
                                        </p:tav>
                                        <p:tav tm="100000">
                                          <p:val>
                                            <p:fltVal val="1"/>
                                          </p:val>
                                        </p:tav>
                                      </p:tavLst>
                                    </p:anim>
                                    <p:anim calcmode="lin" valueType="num">
                                      <p:cBhvr>
                                        <p:cTn id="26"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80">
                                          <p:stCondLst>
                                            <p:cond delay="0"/>
                                          </p:stCondLst>
                                        </p:cTn>
                                        <p:tgtEl>
                                          <p:spTgt spid="7"/>
                                        </p:tgtEl>
                                      </p:cBhvr>
                                    </p:animEffect>
                                    <p:anim calcmode="lin" valueType="num">
                                      <p:cBhvr>
                                        <p:cTn id="3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7" dur="26">
                                          <p:stCondLst>
                                            <p:cond delay="650"/>
                                          </p:stCondLst>
                                        </p:cTn>
                                        <p:tgtEl>
                                          <p:spTgt spid="7"/>
                                        </p:tgtEl>
                                      </p:cBhvr>
                                      <p:to x="100000" y="60000"/>
                                    </p:animScale>
                                    <p:animScale>
                                      <p:cBhvr>
                                        <p:cTn id="38" dur="166" decel="50000">
                                          <p:stCondLst>
                                            <p:cond delay="676"/>
                                          </p:stCondLst>
                                        </p:cTn>
                                        <p:tgtEl>
                                          <p:spTgt spid="7"/>
                                        </p:tgtEl>
                                      </p:cBhvr>
                                      <p:to x="100000" y="100000"/>
                                    </p:animScale>
                                    <p:animScale>
                                      <p:cBhvr>
                                        <p:cTn id="39" dur="26">
                                          <p:stCondLst>
                                            <p:cond delay="1312"/>
                                          </p:stCondLst>
                                        </p:cTn>
                                        <p:tgtEl>
                                          <p:spTgt spid="7"/>
                                        </p:tgtEl>
                                      </p:cBhvr>
                                      <p:to x="100000" y="80000"/>
                                    </p:animScale>
                                    <p:animScale>
                                      <p:cBhvr>
                                        <p:cTn id="40" dur="166" decel="50000">
                                          <p:stCondLst>
                                            <p:cond delay="1338"/>
                                          </p:stCondLst>
                                        </p:cTn>
                                        <p:tgtEl>
                                          <p:spTgt spid="7"/>
                                        </p:tgtEl>
                                      </p:cBhvr>
                                      <p:to x="100000" y="100000"/>
                                    </p:animScale>
                                    <p:animScale>
                                      <p:cBhvr>
                                        <p:cTn id="41" dur="26">
                                          <p:stCondLst>
                                            <p:cond delay="1642"/>
                                          </p:stCondLst>
                                        </p:cTn>
                                        <p:tgtEl>
                                          <p:spTgt spid="7"/>
                                        </p:tgtEl>
                                      </p:cBhvr>
                                      <p:to x="100000" y="90000"/>
                                    </p:animScale>
                                    <p:animScale>
                                      <p:cBhvr>
                                        <p:cTn id="42" dur="166" decel="50000">
                                          <p:stCondLst>
                                            <p:cond delay="1668"/>
                                          </p:stCondLst>
                                        </p:cTn>
                                        <p:tgtEl>
                                          <p:spTgt spid="7"/>
                                        </p:tgtEl>
                                      </p:cBhvr>
                                      <p:to x="100000" y="100000"/>
                                    </p:animScale>
                                    <p:animScale>
                                      <p:cBhvr>
                                        <p:cTn id="43" dur="26">
                                          <p:stCondLst>
                                            <p:cond delay="1808"/>
                                          </p:stCondLst>
                                        </p:cTn>
                                        <p:tgtEl>
                                          <p:spTgt spid="7"/>
                                        </p:tgtEl>
                                      </p:cBhvr>
                                      <p:to x="100000" y="95000"/>
                                    </p:animScale>
                                    <p:animScale>
                                      <p:cBhvr>
                                        <p:cTn id="44"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49" y="148206"/>
            <a:ext cx="9515290"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tiết</a:t>
            </a:r>
            <a:r>
              <a:rPr lang="en-US" dirty="0">
                <a:latin typeface="Arial" panose="020B0604020202020204" pitchFamily="34" charset="0"/>
                <a:cs typeface="Arial" panose="020B0604020202020204" pitchFamily="34" charset="0"/>
              </a:rPr>
              <a:t> Use Case: </a:t>
            </a:r>
            <a:r>
              <a:rPr lang="en-US" dirty="0" err="1">
                <a:latin typeface="Arial" panose="020B0604020202020204" pitchFamily="34" charset="0"/>
                <a:cs typeface="Arial" panose="020B0604020202020204" pitchFamily="34" charset="0"/>
              </a:rPr>
              <a:t>Sản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phẩm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kiếm</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Tính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năng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giúp</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khách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hàng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tiếp</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cận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danh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mục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sản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phẩm</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của</a:t>
            </a:r>
            <a:r>
              <a:rPr lang="en-US" sz="1800" i="1" dirty="0">
                <a:latin typeface="Arial" panose="020B0604020202020204" pitchFamily="34" charset="0"/>
                <a:cs typeface="Arial" panose="020B0604020202020204" pitchFamily="34" charset="0"/>
              </a:rPr>
              <a:t> Apple</a:t>
            </a:r>
          </a:p>
        </p:txBody>
      </p:sp>
      <p:pic>
        <p:nvPicPr>
          <p:cNvPr id="4" name="Picture 3"/>
          <p:cNvPicPr>
            <a:picLocks noChangeAspect="1"/>
          </p:cNvPicPr>
          <p:nvPr/>
        </p:nvPicPr>
        <p:blipFill>
          <a:blip r:embed="rId2"/>
          <a:stretch>
            <a:fillRect/>
          </a:stretch>
        </p:blipFill>
        <p:spPr>
          <a:xfrm>
            <a:off x="439917" y="1469006"/>
            <a:ext cx="9207422" cy="1101060"/>
          </a:xfrm>
          <a:prstGeom prst="rect">
            <a:avLst/>
          </a:prstGeom>
        </p:spPr>
      </p:pic>
      <p:sp>
        <p:nvSpPr>
          <p:cNvPr id="5" name="Rectangle 4"/>
          <p:cNvSpPr/>
          <p:nvPr/>
        </p:nvSpPr>
        <p:spPr>
          <a:xfrm>
            <a:off x="132048" y="2653284"/>
            <a:ext cx="2446168" cy="369332"/>
          </a:xfrm>
          <a:prstGeom prst="rect">
            <a:avLst/>
          </a:prstGeom>
        </p:spPr>
        <p:txBody>
          <a:bodyPr wrap="square">
            <a:spAutoFit/>
          </a:bodyPr>
          <a:lstStyle/>
          <a:p>
            <a:r>
              <a:rPr lang="en-US" b="1" dirty="0">
                <a:solidFill>
                  <a:srgbClr val="0A0D17"/>
                </a:solidFill>
                <a:latin typeface="Arial" panose="020B0604020202020204" pitchFamily="34" charset="0"/>
                <a:cs typeface="Arial" panose="020B0604020202020204" pitchFamily="34" charset="0"/>
              </a:rPr>
              <a:t>Use case </a:t>
            </a:r>
            <a:r>
              <a:rPr lang="en-US" b="1" dirty="0" err="1">
                <a:solidFill>
                  <a:srgbClr val="0A0D17"/>
                </a:solidFill>
                <a:latin typeface="Arial" panose="020B0604020202020204" pitchFamily="34" charset="0"/>
                <a:cs typeface="Arial" panose="020B0604020202020204" pitchFamily="34" charset="0"/>
              </a:rPr>
              <a:t>sản</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phẩm</a:t>
            </a:r>
            <a:endParaRPr lang="en-US" b="1" dirty="0">
              <a:latin typeface="Arial" panose="020B0604020202020204" pitchFamily="34" charset="0"/>
              <a:cs typeface="Arial" panose="020B0604020202020204" pitchFamily="34" charset="0"/>
            </a:endParaRPr>
          </a:p>
        </p:txBody>
      </p:sp>
      <p:sp>
        <p:nvSpPr>
          <p:cNvPr id="6" name="Rectangle 5"/>
          <p:cNvSpPr/>
          <p:nvPr/>
        </p:nvSpPr>
        <p:spPr>
          <a:xfrm>
            <a:off x="2976520" y="2653284"/>
            <a:ext cx="1656170" cy="369332"/>
          </a:xfrm>
          <a:prstGeom prst="rect">
            <a:avLst/>
          </a:prstGeom>
        </p:spPr>
        <p:txBody>
          <a:bodyPr wrap="square">
            <a:spAutoFit/>
          </a:bodyPr>
          <a:lstStyle/>
          <a:p>
            <a:r>
              <a:rPr lang="en-US" b="1" dirty="0" err="1">
                <a:solidFill>
                  <a:srgbClr val="0A0D17"/>
                </a:solidFill>
                <a:latin typeface="Arial" panose="020B0604020202020204" pitchFamily="34" charset="0"/>
                <a:cs typeface="Arial" panose="020B0604020202020204" pitchFamily="34" charset="0"/>
              </a:rPr>
              <a:t>Luồng</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xử</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lý</a:t>
            </a:r>
            <a:endParaRPr lang="en-US" b="1" dirty="0">
              <a:latin typeface="Arial" panose="020B0604020202020204" pitchFamily="34" charset="0"/>
              <a:cs typeface="Arial" panose="020B0604020202020204" pitchFamily="34" charset="0"/>
            </a:endParaRPr>
          </a:p>
        </p:txBody>
      </p:sp>
      <p:sp>
        <p:nvSpPr>
          <p:cNvPr id="7" name="Rectangle 6"/>
          <p:cNvSpPr/>
          <p:nvPr/>
        </p:nvSpPr>
        <p:spPr>
          <a:xfrm>
            <a:off x="5230858" y="2653284"/>
            <a:ext cx="2403846" cy="369332"/>
          </a:xfrm>
          <a:prstGeom prst="rect">
            <a:avLst/>
          </a:prstGeom>
        </p:spPr>
        <p:txBody>
          <a:bodyPr wrap="square">
            <a:spAutoFit/>
          </a:bodyPr>
          <a:lstStyle/>
          <a:p>
            <a:r>
              <a:rPr lang="en-US" b="1" dirty="0">
                <a:solidFill>
                  <a:srgbClr val="0A0D17"/>
                </a:solidFill>
                <a:latin typeface="Arial" panose="020B0604020202020204" pitchFamily="34" charset="0"/>
                <a:cs typeface="Arial" panose="020B0604020202020204" pitchFamily="34" charset="0"/>
              </a:rPr>
              <a:t>Use case </a:t>
            </a:r>
            <a:r>
              <a:rPr lang="en-US" b="1" dirty="0" err="1">
                <a:solidFill>
                  <a:srgbClr val="0A0D17"/>
                </a:solidFill>
                <a:latin typeface="Arial" panose="020B0604020202020204" pitchFamily="34" charset="0"/>
                <a:cs typeface="Arial" panose="020B0604020202020204" pitchFamily="34" charset="0"/>
              </a:rPr>
              <a:t>tìm</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kiếm</a:t>
            </a:r>
            <a:endParaRPr lang="en-US" b="1" dirty="0">
              <a:latin typeface="Arial" panose="020B0604020202020204" pitchFamily="34" charset="0"/>
              <a:cs typeface="Arial" panose="020B0604020202020204" pitchFamily="34" charset="0"/>
            </a:endParaRPr>
          </a:p>
        </p:txBody>
      </p:sp>
      <p:sp>
        <p:nvSpPr>
          <p:cNvPr id="8" name="Rectangle 7"/>
          <p:cNvSpPr/>
          <p:nvPr/>
        </p:nvSpPr>
        <p:spPr>
          <a:xfrm>
            <a:off x="8517102" y="2653284"/>
            <a:ext cx="1134208" cy="369332"/>
          </a:xfrm>
          <a:prstGeom prst="rect">
            <a:avLst/>
          </a:prstGeom>
        </p:spPr>
        <p:txBody>
          <a:bodyPr wrap="square">
            <a:spAutoFit/>
          </a:bodyPr>
          <a:lstStyle/>
          <a:p>
            <a:r>
              <a:rPr lang="en-US" b="1" dirty="0" err="1">
                <a:solidFill>
                  <a:srgbClr val="0A0D17"/>
                </a:solidFill>
                <a:latin typeface="Arial" panose="020B0604020202020204" pitchFamily="34" charset="0"/>
                <a:cs typeface="Arial" panose="020B0604020202020204" pitchFamily="34" charset="0"/>
              </a:rPr>
              <a:t>Kết</a:t>
            </a:r>
            <a:r>
              <a:rPr lang="en-US" b="1" dirty="0">
                <a:solidFill>
                  <a:srgbClr val="0A0D17"/>
                </a:solidFill>
                <a:latin typeface="Arial" panose="020B0604020202020204" pitchFamily="34" charset="0"/>
                <a:cs typeface="Arial" panose="020B0604020202020204" pitchFamily="34" charset="0"/>
              </a:rPr>
              <a:t> </a:t>
            </a:r>
            <a:r>
              <a:rPr lang="en-US" b="1" dirty="0" err="1">
                <a:solidFill>
                  <a:srgbClr val="0A0D17"/>
                </a:solidFill>
                <a:latin typeface="Arial" panose="020B0604020202020204" pitchFamily="34" charset="0"/>
                <a:cs typeface="Arial" panose="020B0604020202020204" pitchFamily="34" charset="0"/>
              </a:rPr>
              <a:t>quả</a:t>
            </a:r>
            <a:endParaRPr lang="en-US" b="1" dirty="0">
              <a:latin typeface="Arial" panose="020B0604020202020204" pitchFamily="34" charset="0"/>
              <a:cs typeface="Arial" panose="020B0604020202020204" pitchFamily="34" charset="0"/>
            </a:endParaRPr>
          </a:p>
        </p:txBody>
      </p:sp>
      <p:sp>
        <p:nvSpPr>
          <p:cNvPr id="9" name="Rectangle 8"/>
          <p:cNvSpPr/>
          <p:nvPr/>
        </p:nvSpPr>
        <p:spPr>
          <a:xfrm>
            <a:off x="132242" y="3244535"/>
            <a:ext cx="2223686" cy="1200329"/>
          </a:xfrm>
          <a:prstGeom prst="rect">
            <a:avLst/>
          </a:prstGeom>
          <a:ln>
            <a:solidFill>
              <a:schemeClr val="accent1"/>
            </a:solidFill>
          </a:ln>
        </p:spPr>
        <p:txBody>
          <a:bodyPr wrap="square">
            <a:spAutoFit/>
          </a:bodyPr>
          <a:lstStyle/>
          <a:p>
            <a:pPr algn="ctr"/>
            <a:r>
              <a:rPr lang="en-US" dirty="0" err="1">
                <a:latin typeface="Arial" panose="020B0604020202020204" pitchFamily="34" charset="0"/>
                <a:cs typeface="Arial" panose="020B0604020202020204" pitchFamily="34" charset="0"/>
              </a:rPr>
              <a:t>Hiển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bảng</a:t>
            </a:r>
            <a:r>
              <a:rPr lang="en-US" dirty="0">
                <a:latin typeface="Arial" panose="020B0604020202020204" pitchFamily="34" charset="0"/>
                <a:cs typeface="Arial" panose="020B0604020202020204" pitchFamily="34" charset="0"/>
              </a:rPr>
              <a:t> Products </a:t>
            </a:r>
            <a:r>
              <a:rPr lang="en-US" dirty="0" err="1">
                <a:latin typeface="Arial" panose="020B0604020202020204" pitchFamily="34" charset="0"/>
                <a:cs typeface="Arial" panose="020B0604020202020204" pitchFamily="34" charset="0"/>
              </a:rPr>
              <a:t>bao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ảnh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bán</a:t>
            </a:r>
            <a:r>
              <a:rPr lang="en-US" dirty="0" smtClean="0">
                <a:latin typeface="Arial" panose="020B0604020202020204" pitchFamily="34" charset="0"/>
                <a:cs typeface="Arial" panose="020B0604020202020204" pitchFamily="34" charset="0"/>
              </a:rPr>
              <a:t>.</a:t>
            </a:r>
          </a:p>
        </p:txBody>
      </p:sp>
      <p:sp>
        <p:nvSpPr>
          <p:cNvPr id="10" name="Rectangle 9"/>
          <p:cNvSpPr/>
          <p:nvPr/>
        </p:nvSpPr>
        <p:spPr>
          <a:xfrm>
            <a:off x="2694461" y="3244535"/>
            <a:ext cx="2104042" cy="1200329"/>
          </a:xfrm>
          <a:prstGeom prst="rect">
            <a:avLst/>
          </a:prstGeom>
          <a:ln>
            <a:solidFill>
              <a:schemeClr val="accent1"/>
            </a:solidFill>
          </a:ln>
        </p:spPr>
        <p:txBody>
          <a:bodyPr wrap="square">
            <a:spAutoFit/>
          </a:bodyPr>
          <a:lstStyle/>
          <a:p>
            <a:pPr algn="ctr"/>
            <a:r>
              <a:rPr lang="vi-VN" dirty="0">
                <a:latin typeface="Arial" panose="020B0604020202020204" pitchFamily="34" charset="0"/>
                <a:cs typeface="Arial" panose="020B0604020202020204" pitchFamily="34" charset="0"/>
              </a:rPr>
              <a:t>Lấy dữ liệu trực tiếp từ database và hiển thị lên giao diện người dùng.</a:t>
            </a:r>
            <a:endParaRPr lang="en-US" dirty="0">
              <a:latin typeface="Arial" panose="020B0604020202020204" pitchFamily="34" charset="0"/>
              <a:cs typeface="Arial" panose="020B0604020202020204" pitchFamily="34" charset="0"/>
            </a:endParaRPr>
          </a:p>
        </p:txBody>
      </p:sp>
      <p:sp>
        <p:nvSpPr>
          <p:cNvPr id="11" name="Rectangle 10"/>
          <p:cNvSpPr/>
          <p:nvPr/>
        </p:nvSpPr>
        <p:spPr>
          <a:xfrm>
            <a:off x="5223690" y="3244535"/>
            <a:ext cx="2243234" cy="1200329"/>
          </a:xfrm>
          <a:prstGeom prst="rect">
            <a:avLst/>
          </a:prstGeom>
          <a:ln>
            <a:solidFill>
              <a:schemeClr val="accent1"/>
            </a:solidFill>
          </a:ln>
        </p:spPr>
        <p:txBody>
          <a:bodyPr wrap="square">
            <a:spAutoFit/>
          </a:bodyPr>
          <a:lstStyle/>
          <a:p>
            <a:pPr algn="ctr"/>
            <a:r>
              <a:rPr lang="vi-VN" dirty="0">
                <a:latin typeface="Arial" panose="020B0604020202020204" pitchFamily="34" charset="0"/>
                <a:cs typeface="Arial" panose="020B0604020202020204" pitchFamily="34" charset="0"/>
              </a:rPr>
              <a:t>Cho phép người dùng nhập từ khóa để lọc các sản phẩm tương ứng.</a:t>
            </a:r>
            <a:endParaRPr lang="en-US" dirty="0">
              <a:latin typeface="Arial" panose="020B0604020202020204" pitchFamily="34" charset="0"/>
              <a:cs typeface="Arial" panose="020B0604020202020204" pitchFamily="34" charset="0"/>
            </a:endParaRPr>
          </a:p>
        </p:txBody>
      </p:sp>
      <p:sp>
        <p:nvSpPr>
          <p:cNvPr id="12" name="Rectangle 11"/>
          <p:cNvSpPr/>
          <p:nvPr/>
        </p:nvSpPr>
        <p:spPr>
          <a:xfrm>
            <a:off x="7821336" y="3246752"/>
            <a:ext cx="2471955" cy="1200329"/>
          </a:xfrm>
          <a:prstGeom prst="rect">
            <a:avLst/>
          </a:prstGeom>
          <a:ln>
            <a:solidFill>
              <a:schemeClr val="accent1"/>
            </a:solidFill>
          </a:ln>
        </p:spPr>
        <p:txBody>
          <a:bodyPr wrap="square">
            <a:spAutoFit/>
          </a:bodyPr>
          <a:lstStyle/>
          <a:p>
            <a:pPr algn="ctr"/>
            <a:r>
              <a:rPr lang="en-US" dirty="0" err="1">
                <a:latin typeface="Arial" panose="020B0604020202020204" pitchFamily="34" charset="0"/>
                <a:cs typeface="Arial" panose="020B0604020202020204" pitchFamily="34" charset="0"/>
              </a:rPr>
              <a:t>Hiển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phẩm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khóa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nếu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thấy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29908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5"/>
                                        </p:tgtEl>
                                      </p:cBhvr>
                                    </p:animEffect>
                                    <p:animScale>
                                      <p:cBhvr>
                                        <p:cTn id="10" dur="250" autoRev="1" fill="hold"/>
                                        <p:tgtEl>
                                          <p:spTgt spid="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6"/>
                                        </p:tgtEl>
                                      </p:cBhvr>
                                    </p:animEffect>
                                    <p:animScale>
                                      <p:cBhvr>
                                        <p:cTn id="13" dur="250" autoRev="1" fill="hold"/>
                                        <p:tgtEl>
                                          <p:spTgt spid="6"/>
                                        </p:tgtEl>
                                      </p:cBhvr>
                                      <p:by x="105000" y="105000"/>
                                    </p:animScale>
                                  </p:childTnLst>
                                </p:cTn>
                              </p:par>
                              <p:par>
                                <p:cTn id="14" presetID="26" presetClass="emph" presetSubtype="0" fill="hold" grpId="0" nodeType="withEffect">
                                  <p:stCondLst>
                                    <p:cond delay="0"/>
                                  </p:stCondLst>
                                  <p:childTnLst>
                                    <p:animEffect transition="out" filter="fade">
                                      <p:cBhvr>
                                        <p:cTn id="15" dur="500" tmFilter="0, 0; .2, .5; .8, .5; 1, 0"/>
                                        <p:tgtEl>
                                          <p:spTgt spid="7"/>
                                        </p:tgtEl>
                                      </p:cBhvr>
                                    </p:animEffect>
                                    <p:animScale>
                                      <p:cBhvr>
                                        <p:cTn id="16" dur="250" autoRev="1" fill="hold"/>
                                        <p:tgtEl>
                                          <p:spTgt spid="7"/>
                                        </p:tgtEl>
                                      </p:cBhvr>
                                      <p:by x="105000" y="105000"/>
                                    </p:animScale>
                                  </p:childTnLst>
                                </p:cTn>
                              </p:par>
                              <p:par>
                                <p:cTn id="17" presetID="26" presetClass="emph" presetSubtype="0" fill="hold" grpId="0" nodeType="withEffect">
                                  <p:stCondLst>
                                    <p:cond delay="0"/>
                                  </p:stCondLst>
                                  <p:childTnLst>
                                    <p:animEffect transition="out" filter="fade">
                                      <p:cBhvr>
                                        <p:cTn id="18" dur="500" tmFilter="0, 0; .2, .5; .8, .5; 1, 0"/>
                                        <p:tgtEl>
                                          <p:spTgt spid="8"/>
                                        </p:tgtEl>
                                      </p:cBhvr>
                                    </p:animEffect>
                                    <p:animScale>
                                      <p:cBhvr>
                                        <p:cTn id="19" dur="250" autoRev="1" fill="hold"/>
                                        <p:tgtEl>
                                          <p:spTgt spid="8"/>
                                        </p:tgtEl>
                                      </p:cBhvr>
                                      <p:by x="105000" y="105000"/>
                                    </p:animScale>
                                  </p:childTnLst>
                                </p:cTn>
                              </p:par>
                              <p:par>
                                <p:cTn id="20" presetID="26" presetClass="emph" presetSubtype="0" fill="hold" grpId="0" nodeType="withEffect">
                                  <p:stCondLst>
                                    <p:cond delay="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par>
                                <p:cTn id="23" presetID="26" presetClass="emph" presetSubtype="0" fill="hold" grpId="0" nodeType="withEffect">
                                  <p:stCondLst>
                                    <p:cond delay="0"/>
                                  </p:stCondLst>
                                  <p:childTnLst>
                                    <p:animEffect transition="out" filter="fade">
                                      <p:cBhvr>
                                        <p:cTn id="24" dur="500" tmFilter="0, 0; .2, .5; .8, .5; 1, 0"/>
                                        <p:tgtEl>
                                          <p:spTgt spid="10"/>
                                        </p:tgtEl>
                                      </p:cBhvr>
                                    </p:animEffect>
                                    <p:animScale>
                                      <p:cBhvr>
                                        <p:cTn id="25" dur="250" autoRev="1" fill="hold"/>
                                        <p:tgtEl>
                                          <p:spTgt spid="10"/>
                                        </p:tgtEl>
                                      </p:cBhvr>
                                      <p:by x="105000" y="105000"/>
                                    </p:animScale>
                                  </p:childTnLst>
                                </p:cTn>
                              </p:par>
                              <p:par>
                                <p:cTn id="26" presetID="26" presetClass="emph" presetSubtype="0" fill="hold" grpId="0" nodeType="withEffect">
                                  <p:stCondLst>
                                    <p:cond delay="0"/>
                                  </p:stCondLst>
                                  <p:childTnLst>
                                    <p:animEffect transition="out" filter="fade">
                                      <p:cBhvr>
                                        <p:cTn id="27" dur="500" tmFilter="0, 0; .2, .5; .8, .5; 1, 0"/>
                                        <p:tgtEl>
                                          <p:spTgt spid="11"/>
                                        </p:tgtEl>
                                      </p:cBhvr>
                                    </p:animEffect>
                                    <p:animScale>
                                      <p:cBhvr>
                                        <p:cTn id="28" dur="250" autoRev="1" fill="hold"/>
                                        <p:tgtEl>
                                          <p:spTgt spid="11"/>
                                        </p:tgtEl>
                                      </p:cBhvr>
                                      <p:by x="105000" y="105000"/>
                                    </p:animScale>
                                  </p:childTnLst>
                                </p:cTn>
                              </p:par>
                              <p:par>
                                <p:cTn id="29" presetID="26" presetClass="emph" presetSubtype="0" fill="hold" grpId="0" nodeType="withEffect">
                                  <p:stCondLst>
                                    <p:cond delay="0"/>
                                  </p:stCondLst>
                                  <p:childTnLst>
                                    <p:animEffect transition="out" filter="fade">
                                      <p:cBhvr>
                                        <p:cTn id="30" dur="500" tmFilter="0, 0; .2, .5; .8, .5; 1, 0"/>
                                        <p:tgtEl>
                                          <p:spTgt spid="12"/>
                                        </p:tgtEl>
                                      </p:cBhvr>
                                    </p:animEffect>
                                    <p:animScale>
                                      <p:cBhvr>
                                        <p:cTn id="31"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animBg="1"/>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50" y="139817"/>
            <a:ext cx="8596668"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tiết</a:t>
            </a:r>
            <a:r>
              <a:rPr lang="en-US" dirty="0">
                <a:latin typeface="Arial" panose="020B0604020202020204" pitchFamily="34" charset="0"/>
                <a:cs typeface="Arial" panose="020B0604020202020204" pitchFamily="34" charset="0"/>
              </a:rPr>
              <a:t> Use Case: </a:t>
            </a:r>
            <a:r>
              <a:rPr lang="en-US" dirty="0" err="1">
                <a:latin typeface="Arial" panose="020B0604020202020204" pitchFamily="34" charset="0"/>
                <a:cs typeface="Arial" panose="020B0604020202020204" pitchFamily="34" charset="0"/>
              </a:rPr>
              <a:t>Giỏ</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Thanh</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toán</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vi-VN" sz="1800" i="1" dirty="0">
                <a:latin typeface="Arial" panose="020B0604020202020204" pitchFamily="34" charset="0"/>
                <a:cs typeface="Arial" panose="020B0604020202020204" pitchFamily="34" charset="0"/>
              </a:rPr>
              <a:t>Quy trình từ việc chọn hàng đến khi hoàn tất đơn hàng trên website</a:t>
            </a:r>
            <a:endParaRPr lang="en-US" sz="1800" i="1"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337694260"/>
              </p:ext>
            </p:extLst>
          </p:nvPr>
        </p:nvGraphicFramePr>
        <p:xfrm>
          <a:off x="664595" y="1734733"/>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22341191"/>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Quản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lý</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giỏ</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hàng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06662181"/>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Xem danh sách, cập nhật số lượng hoặc xóa sản phẩm. Hậu điều kiện là cập nhật bảng CartItems.</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2208406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100106655"/>
              </p:ext>
            </p:extLst>
          </p:nvPr>
        </p:nvGraphicFramePr>
        <p:xfrm>
          <a:off x="664595" y="2927368"/>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22341191"/>
                    </a:ext>
                  </a:extLst>
                </a:gridCol>
              </a:tblGrid>
              <a:tr h="370840">
                <a:tc>
                  <a:txBody>
                    <a:bodyPr/>
                    <a:lstStyle/>
                    <a:p>
                      <a:r>
                        <a:rPr lang="en-US" b="0" i="0" dirty="0" err="1" smtClean="0">
                          <a:solidFill>
                            <a:schemeClr val="bg1"/>
                          </a:solidFill>
                          <a:effectLst/>
                          <a:latin typeface="Arial" panose="020B0604020202020204" pitchFamily="34" charset="0"/>
                          <a:cs typeface="Arial" panose="020B0604020202020204" pitchFamily="34" charset="0"/>
                        </a:rPr>
                        <a:t>Thanh</a:t>
                      </a:r>
                      <a:r>
                        <a:rPr lang="en-US" b="0" i="0" dirty="0" smtClean="0">
                          <a:solidFill>
                            <a:schemeClr val="bg1"/>
                          </a:solidFill>
                          <a:effectLst/>
                          <a:latin typeface="Arial" panose="020B0604020202020204" pitchFamily="34" charset="0"/>
                          <a:cs typeface="Arial" panose="020B0604020202020204" pitchFamily="34" charset="0"/>
                        </a:rPr>
                        <a:t> </a:t>
                      </a:r>
                      <a:r>
                        <a:rPr lang="en-US" b="0" i="0" dirty="0" err="1" smtClean="0">
                          <a:solidFill>
                            <a:schemeClr val="bg1"/>
                          </a:solidFill>
                          <a:effectLst/>
                          <a:latin typeface="Arial" panose="020B0604020202020204" pitchFamily="34" charset="0"/>
                          <a:cs typeface="Arial" panose="020B0604020202020204" pitchFamily="34" charset="0"/>
                        </a:rPr>
                        <a:t>toán</a:t>
                      </a:r>
                      <a:endParaRPr lang="en-US"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06662181"/>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Người dùng chọn thanh toán, hệ thống tạo bản ghi trong bảng Orders kèm thông tin khách và tổng tiền.</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2208406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42207414"/>
              </p:ext>
            </p:extLst>
          </p:nvPr>
        </p:nvGraphicFramePr>
        <p:xfrm>
          <a:off x="664595" y="4120003"/>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22341191"/>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Tiền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điều</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kiện</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06662181"/>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Người dùng phải đăng nhập trước khi thực hiện thanh toán đơn hàng.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22084069"/>
                  </a:ext>
                </a:extLst>
              </a:tr>
            </a:tbl>
          </a:graphicData>
        </a:graphic>
      </p:graphicFrame>
    </p:spTree>
    <p:extLst>
      <p:ext uri="{BB962C8B-B14F-4D97-AF65-F5344CB8AC3E}">
        <p14:creationId xmlns:p14="http://schemas.microsoft.com/office/powerpoint/2010/main" val="56293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ircle(in)">
                                      <p:cBhvr>
                                        <p:cTn id="10" dur="2000"/>
                                        <p:tgtEl>
                                          <p:spTgt spid="4"/>
                                        </p:tgtEl>
                                      </p:cBhvr>
                                    </p:animEffect>
                                  </p:childTnLst>
                                </p:cTn>
                              </p:par>
                              <p:par>
                                <p:cTn id="11" presetID="6" presetClass="entr" presetSubtype="16"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circle(in)">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718" y="106261"/>
            <a:ext cx="8596668"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tiết</a:t>
            </a:r>
            <a:r>
              <a:rPr lang="en-US" dirty="0">
                <a:latin typeface="Arial" panose="020B0604020202020204" pitchFamily="34" charset="0"/>
                <a:cs typeface="Arial" panose="020B0604020202020204" pitchFamily="34" charset="0"/>
              </a:rPr>
              <a:t> Use Case </a:t>
            </a:r>
            <a:r>
              <a:rPr lang="en-US" dirty="0" err="1">
                <a:latin typeface="Arial" panose="020B0604020202020204" pitchFamily="34" charset="0"/>
                <a:cs typeface="Arial" panose="020B0604020202020204" pitchFamily="34" charset="0"/>
              </a:rPr>
              <a:t>dành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(Admin</a:t>
            </a:r>
            <a:r>
              <a:rPr lang="en-US" dirty="0" smtClean="0">
                <a:latin typeface="Arial" panose="020B0604020202020204" pitchFamily="34" charset="0"/>
                <a:cs typeface="Arial" panose="020B0604020202020204" pitchFamily="34" charset="0"/>
              </a:rPr>
              <a:t>)</a:t>
            </a:r>
            <a:br>
              <a:rPr lang="en-US" dirty="0" smtClean="0">
                <a:latin typeface="Arial" panose="020B0604020202020204" pitchFamily="34" charset="0"/>
                <a:cs typeface="Arial" panose="020B0604020202020204" pitchFamily="34" charset="0"/>
              </a:rPr>
            </a:br>
            <a:r>
              <a:rPr lang="vi-VN" sz="1800" i="1" dirty="0">
                <a:latin typeface="Arial" panose="020B0604020202020204" pitchFamily="34" charset="0"/>
                <a:cs typeface="Arial" panose="020B0604020202020204" pitchFamily="34" charset="0"/>
              </a:rPr>
              <a:t>Các công cụ quản lý toàn diện dành cho người vận hành hệ thống</a:t>
            </a:r>
            <a:endParaRPr lang="en-US" sz="1800" i="1"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417543877"/>
              </p:ext>
            </p:extLst>
          </p:nvPr>
        </p:nvGraphicFramePr>
        <p:xfrm>
          <a:off x="701386" y="2087072"/>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2249673"/>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Quản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lý</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sản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phẩm</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13309277"/>
                  </a:ext>
                </a:extLst>
              </a:tr>
              <a:tr h="370840">
                <a:tc>
                  <a:txBody>
                    <a:bodyPr/>
                    <a:lstStyle/>
                    <a:p>
                      <a:r>
                        <a:rPr lang="en-US" sz="1800" b="0" i="0" kern="1200" dirty="0" smtClean="0">
                          <a:solidFill>
                            <a:schemeClr val="dk1"/>
                          </a:solidFill>
                          <a:effectLst/>
                          <a:latin typeface="Arial" panose="020B0604020202020204" pitchFamily="34" charset="0"/>
                          <a:ea typeface="+mn-ea"/>
                          <a:cs typeface="Arial" panose="020B0604020202020204" pitchFamily="34" charset="0"/>
                        </a:rPr>
                        <a:t>Admin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thực</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hiện</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xem</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danh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sách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thêm</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mới</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chỉnh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sửa</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hoặc</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xóa</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sản</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phẩm</a:t>
                      </a:r>
                      <a:r>
                        <a:rPr lang="en-US" sz="1800" b="0" i="0" kern="1200" dirty="0" smtClean="0">
                          <a:solidFill>
                            <a:schemeClr val="dk1"/>
                          </a:solidFill>
                          <a:effectLst/>
                          <a:latin typeface="Arial" panose="020B0604020202020204" pitchFamily="34" charset="0"/>
                          <a:ea typeface="+mn-ea"/>
                          <a:cs typeface="Arial" panose="020B0604020202020204" pitchFamily="34" charset="0"/>
                        </a:rPr>
                        <a:t>.</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892050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745329778"/>
              </p:ext>
            </p:extLst>
          </p:nvPr>
        </p:nvGraphicFramePr>
        <p:xfrm>
          <a:off x="701386" y="3179039"/>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2249673"/>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Quản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lý</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khách</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hàng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13309277"/>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Theo dõi danh sách tài khoản, xem chi tiết và cập nhật trạng thái người dùng.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89205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90747011"/>
              </p:ext>
            </p:extLst>
          </p:nvPr>
        </p:nvGraphicFramePr>
        <p:xfrm>
          <a:off x="701386" y="4185718"/>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2249673"/>
                    </a:ext>
                  </a:extLst>
                </a:gridCol>
              </a:tblGrid>
              <a:tr h="370840">
                <a:tc>
                  <a:txBody>
                    <a:bodyPr/>
                    <a:lstStyle/>
                    <a:p>
                      <a:r>
                        <a:rPr lang="vi-VN" sz="1800" b="0" i="0" kern="1200" dirty="0" smtClean="0">
                          <a:solidFill>
                            <a:schemeClr val="lt1"/>
                          </a:solidFill>
                          <a:effectLst/>
                          <a:latin typeface="+mn-lt"/>
                          <a:ea typeface="+mn-ea"/>
                          <a:cs typeface="+mn-cs"/>
                        </a:rPr>
                        <a:t>Quản lý đơn hàng</a:t>
                      </a:r>
                      <a:endParaRPr lang="en-US" dirty="0">
                        <a:latin typeface="+mn-lt"/>
                      </a:endParaRPr>
                    </a:p>
                  </a:txBody>
                  <a:tcPr/>
                </a:tc>
                <a:extLst>
                  <a:ext uri="{0D108BD9-81ED-4DB2-BD59-A6C34878D82A}">
                    <a16:rowId xmlns:a16="http://schemas.microsoft.com/office/drawing/2014/main" val="3113309277"/>
                  </a:ext>
                </a:extLst>
              </a:tr>
              <a:tr h="370840">
                <a:tc>
                  <a:txBody>
                    <a:bodyPr/>
                    <a:lstStyle/>
                    <a:p>
                      <a:r>
                        <a:rPr lang="vi-VN" sz="1800" b="0" i="0" kern="1200" dirty="0" smtClean="0">
                          <a:solidFill>
                            <a:schemeClr val="dk1"/>
                          </a:solidFill>
                          <a:effectLst/>
                          <a:latin typeface="+mn-lt"/>
                          <a:ea typeface="+mn-ea"/>
                          <a:cs typeface="+mn-cs"/>
                        </a:rPr>
                        <a:t>Xem toàn bộ đơn hàng, chi tiết từng đơn và cập nhật trạng thái vận chuyển.</a:t>
                      </a:r>
                      <a:endParaRPr lang="en-US" dirty="0">
                        <a:latin typeface="+mn-lt"/>
                      </a:endParaRPr>
                    </a:p>
                  </a:txBody>
                  <a:tcPr/>
                </a:tc>
                <a:extLst>
                  <a:ext uri="{0D108BD9-81ED-4DB2-BD59-A6C34878D82A}">
                    <a16:rowId xmlns:a16="http://schemas.microsoft.com/office/drawing/2014/main" val="218920506"/>
                  </a:ext>
                </a:extLst>
              </a:tr>
            </a:tbl>
          </a:graphicData>
        </a:graphic>
      </p:graphicFrame>
    </p:spTree>
    <p:extLst>
      <p:ext uri="{BB962C8B-B14F-4D97-AF65-F5344CB8AC3E}">
        <p14:creationId xmlns:p14="http://schemas.microsoft.com/office/powerpoint/2010/main" val="370408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61" y="139817"/>
            <a:ext cx="8596668"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chủ</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sản</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phẩm</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Giao</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diện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hiện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đại</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hiển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thị</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các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sản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phẩm</a:t>
            </a:r>
            <a:r>
              <a:rPr lang="en-US" sz="1800" i="1" dirty="0">
                <a:latin typeface="Arial" panose="020B0604020202020204" pitchFamily="34" charset="0"/>
                <a:cs typeface="Arial" panose="020B0604020202020204" pitchFamily="34" charset="0"/>
              </a:rPr>
              <a:t> Apple </a:t>
            </a:r>
            <a:r>
              <a:rPr lang="en-US" sz="1800" i="1" dirty="0" err="1">
                <a:latin typeface="Arial" panose="020B0604020202020204" pitchFamily="34" charset="0"/>
                <a:cs typeface="Arial" panose="020B0604020202020204" pitchFamily="34" charset="0"/>
              </a:rPr>
              <a:t>nổi</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bật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và</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bộ</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lọc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tìm</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kiếm</a:t>
            </a:r>
            <a:endParaRPr lang="en-US" sz="1800" i="1"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708625195"/>
              </p:ext>
            </p:extLst>
          </p:nvPr>
        </p:nvGraphicFramePr>
        <p:xfrm>
          <a:off x="773651" y="2263241"/>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19443232"/>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Trang</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chủ</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5558560"/>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Hiển thị 8 sản phẩm nổi bật được yêu thích, giới thiệu thương hiệu và menu điều hướng.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3777477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552314403"/>
              </p:ext>
            </p:extLst>
          </p:nvPr>
        </p:nvGraphicFramePr>
        <p:xfrm>
          <a:off x="773651" y="3352768"/>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19443232"/>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Trang</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sản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phẩm</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5558560"/>
                  </a:ext>
                </a:extLst>
              </a:tr>
              <a:tr h="370840">
                <a:tc>
                  <a:txBody>
                    <a:bodyPr/>
                    <a:lstStyle/>
                    <a:p>
                      <a:r>
                        <a:rPr lang="en-US" sz="1800" b="0" i="0" kern="1200" dirty="0" err="1" smtClean="0">
                          <a:solidFill>
                            <a:schemeClr val="dk1"/>
                          </a:solidFill>
                          <a:effectLst/>
                          <a:latin typeface="Arial" panose="020B0604020202020204" pitchFamily="34" charset="0"/>
                          <a:ea typeface="+mn-ea"/>
                          <a:cs typeface="Arial" panose="020B0604020202020204" pitchFamily="34" charset="0"/>
                        </a:rPr>
                        <a:t>Danh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sách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tất</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cả</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sản</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phẩm</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với</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bộ</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lọc</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nâng</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cao</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theo</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danh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mục</a:t>
                      </a:r>
                      <a:r>
                        <a:rPr lang="en-US" sz="1800" b="0" i="0" kern="1200" dirty="0" smtClean="0">
                          <a:solidFill>
                            <a:schemeClr val="dk1"/>
                          </a:solidFill>
                          <a:effectLst/>
                          <a:latin typeface="Arial" panose="020B0604020202020204" pitchFamily="34" charset="0"/>
                          <a:ea typeface="+mn-ea"/>
                          <a:cs typeface="Arial" panose="020B0604020202020204" pitchFamily="34" charset="0"/>
                        </a:rPr>
                        <a:t> (iPhone, iPad, Mac).</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3777477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00409836"/>
              </p:ext>
            </p:extLst>
          </p:nvPr>
        </p:nvGraphicFramePr>
        <p:xfrm>
          <a:off x="773651" y="4513896"/>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19443232"/>
                    </a:ext>
                  </a:extLst>
                </a:gridCol>
              </a:tblGrid>
              <a:tr h="370840">
                <a:tc>
                  <a:txBody>
                    <a:bodyPr/>
                    <a:lstStyle/>
                    <a:p>
                      <a:r>
                        <a:rPr lang="en-US" sz="1800" b="0" i="0" kern="1200" dirty="0" err="1" smtClean="0">
                          <a:solidFill>
                            <a:schemeClr val="lt1"/>
                          </a:solidFill>
                          <a:effectLst/>
                          <a:latin typeface="Arial" panose="020B0604020202020204" pitchFamily="34" charset="0"/>
                          <a:ea typeface="+mn-ea"/>
                          <a:cs typeface="Arial" panose="020B0604020202020204" pitchFamily="34" charset="0"/>
                        </a:rPr>
                        <a:t>Tính</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năng</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lọc</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5558560"/>
                  </a:ext>
                </a:extLst>
              </a:tr>
              <a:tr h="370840">
                <a:tc>
                  <a:txBody>
                    <a:bodyPr/>
                    <a:lstStyle/>
                    <a:p>
                      <a:r>
                        <a:rPr lang="en-US" sz="1800" b="0" i="0" kern="1200" dirty="0" err="1" smtClean="0">
                          <a:solidFill>
                            <a:schemeClr val="dk1"/>
                          </a:solidFill>
                          <a:effectLst/>
                          <a:latin typeface="Arial" panose="020B0604020202020204" pitchFamily="34" charset="0"/>
                          <a:ea typeface="+mn-ea"/>
                          <a:cs typeface="Arial" panose="020B0604020202020204" pitchFamily="34" charset="0"/>
                        </a:rPr>
                        <a:t>Sắp</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xếp</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giá</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từ</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thấp</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đến</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cao</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và</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thanh</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tìm</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kiếm</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có</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gợi</a:t>
                      </a:r>
                      <a:r>
                        <a:rPr lang="en-US" sz="1800" b="0" i="0" kern="1200" dirty="0" smtClean="0">
                          <a:solidFill>
                            <a:schemeClr val="dk1"/>
                          </a:solidFill>
                          <a:effectLst/>
                          <a:latin typeface="Arial" panose="020B0604020202020204" pitchFamily="34" charset="0"/>
                          <a:ea typeface="+mn-ea"/>
                          <a:cs typeface="Arial" panose="020B0604020202020204" pitchFamily="34" charset="0"/>
                        </a:rPr>
                        <a:t> ý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sản</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phẩm</a:t>
                      </a:r>
                      <a:r>
                        <a:rPr lang="en-US" sz="1800" b="0" i="0" kern="1200" dirty="0" smtClean="0">
                          <a:solidFill>
                            <a:schemeClr val="dk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dk1"/>
                          </a:solidFill>
                          <a:effectLst/>
                          <a:latin typeface="Arial" panose="020B0604020202020204" pitchFamily="34" charset="0"/>
                          <a:ea typeface="+mn-ea"/>
                          <a:cs typeface="Arial" panose="020B0604020202020204" pitchFamily="34" charset="0"/>
                        </a:rPr>
                        <a:t>thông</a:t>
                      </a:r>
                      <a:r>
                        <a:rPr lang="en-US" sz="1800" b="0" i="0" kern="1200" dirty="0" smtClean="0">
                          <a:solidFill>
                            <a:schemeClr val="dk1"/>
                          </a:solidFill>
                          <a:effectLst/>
                          <a:latin typeface="Arial" panose="020B0604020202020204" pitchFamily="34" charset="0"/>
                          <a:ea typeface="+mn-ea"/>
                          <a:cs typeface="Arial" panose="020B0604020202020204" pitchFamily="34" charset="0"/>
                        </a:rPr>
                        <a:t> minh.</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37774777"/>
                  </a:ext>
                </a:extLst>
              </a:tr>
            </a:tbl>
          </a:graphicData>
        </a:graphic>
      </p:graphicFrame>
    </p:spTree>
    <p:extLst>
      <p:ext uri="{BB962C8B-B14F-4D97-AF65-F5344CB8AC3E}">
        <p14:creationId xmlns:p14="http://schemas.microsoft.com/office/powerpoint/2010/main" val="360392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61" y="123039"/>
            <a:ext cx="8596668" cy="1320800"/>
          </a:xfrm>
        </p:spPr>
        <p:txBody>
          <a:bodyPr>
            <a:normAutofit fontScale="90000"/>
          </a:bodyPr>
          <a:lstStyle/>
          <a:p>
            <a:pPr marL="571500" indent="-571500">
              <a:buFont typeface="Wingdings" panose="05000000000000000000" pitchFamily="2" charset="2"/>
              <a:buChar char="v"/>
            </a:pPr>
            <a:r>
              <a:rPr lang="vi-VN" dirty="0">
                <a:latin typeface="+mn-lt"/>
              </a:rPr>
              <a:t>Chi tiết sản phẩm, Giỏ hàng và quy trình Đơn </a:t>
            </a:r>
            <a:r>
              <a:rPr lang="vi-VN" dirty="0" smtClean="0">
                <a:latin typeface="+mn-lt"/>
              </a:rPr>
              <a:t>hàng</a:t>
            </a:r>
            <a:r>
              <a:rPr lang="en-US" dirty="0" smtClean="0">
                <a:latin typeface="+mn-lt"/>
              </a:rPr>
              <a:t/>
            </a:r>
            <a:br>
              <a:rPr lang="en-US" dirty="0" smtClean="0">
                <a:latin typeface="+mn-lt"/>
              </a:rPr>
            </a:br>
            <a:r>
              <a:rPr lang="en-US" sz="1800" i="1" dirty="0" err="1">
                <a:latin typeface="+mn-lt"/>
              </a:rPr>
              <a:t>Cung</a:t>
            </a:r>
            <a:r>
              <a:rPr lang="en-US" sz="1800" i="1" dirty="0">
                <a:latin typeface="+mn-lt"/>
              </a:rPr>
              <a:t> </a:t>
            </a:r>
            <a:r>
              <a:rPr lang="en-US" sz="1800" i="1" dirty="0" err="1">
                <a:latin typeface="+mn-lt"/>
              </a:rPr>
              <a:t>cấp</a:t>
            </a:r>
            <a:r>
              <a:rPr lang="en-US" sz="1800" i="1" dirty="0">
                <a:latin typeface="+mn-lt"/>
              </a:rPr>
              <a:t> </a:t>
            </a:r>
            <a:r>
              <a:rPr lang="en-US" sz="1800" i="1" dirty="0" err="1">
                <a:latin typeface="+mn-lt"/>
              </a:rPr>
              <a:t>đầy</a:t>
            </a:r>
            <a:r>
              <a:rPr lang="en-US" sz="1800" i="1" dirty="0">
                <a:latin typeface="+mn-lt"/>
              </a:rPr>
              <a:t> </a:t>
            </a:r>
            <a:r>
              <a:rPr lang="en-US" sz="1800" i="1" dirty="0" err="1">
                <a:latin typeface="+mn-lt"/>
              </a:rPr>
              <a:t>đủ</a:t>
            </a:r>
            <a:r>
              <a:rPr lang="en-US" sz="1800" i="1" dirty="0">
                <a:latin typeface="+mn-lt"/>
              </a:rPr>
              <a:t> </a:t>
            </a:r>
            <a:r>
              <a:rPr lang="en-US" sz="1800" i="1" dirty="0" err="1">
                <a:latin typeface="+mn-lt"/>
              </a:rPr>
              <a:t>thông</a:t>
            </a:r>
            <a:r>
              <a:rPr lang="en-US" sz="1800" i="1" dirty="0">
                <a:latin typeface="+mn-lt"/>
              </a:rPr>
              <a:t> </a:t>
            </a:r>
            <a:r>
              <a:rPr lang="en-US" sz="1800" i="1" dirty="0" err="1">
                <a:latin typeface="+mn-lt"/>
              </a:rPr>
              <a:t>số</a:t>
            </a:r>
            <a:r>
              <a:rPr lang="en-US" sz="1800" i="1" dirty="0">
                <a:latin typeface="+mn-lt"/>
              </a:rPr>
              <a:t> </a:t>
            </a:r>
            <a:r>
              <a:rPr lang="en-US" sz="1800" i="1" dirty="0" err="1">
                <a:latin typeface="+mn-lt"/>
              </a:rPr>
              <a:t>kỹ</a:t>
            </a:r>
            <a:r>
              <a:rPr lang="en-US" sz="1800" i="1" dirty="0">
                <a:latin typeface="+mn-lt"/>
              </a:rPr>
              <a:t> </a:t>
            </a:r>
            <a:r>
              <a:rPr lang="en-US" sz="1800" i="1" dirty="0" err="1">
                <a:latin typeface="+mn-lt"/>
              </a:rPr>
              <a:t>thuật</a:t>
            </a:r>
            <a:r>
              <a:rPr lang="en-US" sz="1800" i="1" dirty="0">
                <a:latin typeface="+mn-lt"/>
              </a:rPr>
              <a:t> </a:t>
            </a:r>
            <a:r>
              <a:rPr lang="en-US" sz="1800" i="1" dirty="0" err="1">
                <a:latin typeface="+mn-lt"/>
              </a:rPr>
              <a:t>và</a:t>
            </a:r>
            <a:r>
              <a:rPr lang="en-US" sz="1800" i="1" dirty="0">
                <a:latin typeface="+mn-lt"/>
              </a:rPr>
              <a:t> </a:t>
            </a:r>
            <a:r>
              <a:rPr lang="en-US" sz="1800" i="1" dirty="0" err="1">
                <a:latin typeface="+mn-lt"/>
              </a:rPr>
              <a:t>công</a:t>
            </a:r>
            <a:r>
              <a:rPr lang="en-US" sz="1800" i="1" dirty="0">
                <a:latin typeface="+mn-lt"/>
              </a:rPr>
              <a:t> </a:t>
            </a:r>
            <a:r>
              <a:rPr lang="en-US" sz="1800" i="1" dirty="0" err="1">
                <a:latin typeface="+mn-lt"/>
              </a:rPr>
              <a:t>cụ</a:t>
            </a:r>
            <a:r>
              <a:rPr lang="en-US" sz="1800" i="1" dirty="0">
                <a:latin typeface="+mn-lt"/>
              </a:rPr>
              <a:t> </a:t>
            </a:r>
            <a:r>
              <a:rPr lang="en-US" sz="1800" i="1" dirty="0" err="1">
                <a:latin typeface="+mn-lt"/>
              </a:rPr>
              <a:t>quản</a:t>
            </a:r>
            <a:r>
              <a:rPr lang="en-US" sz="1800" i="1" dirty="0">
                <a:latin typeface="+mn-lt"/>
              </a:rPr>
              <a:t> </a:t>
            </a:r>
            <a:r>
              <a:rPr lang="en-US" sz="1800" i="1" dirty="0" err="1">
                <a:latin typeface="+mn-lt"/>
              </a:rPr>
              <a:t>lý</a:t>
            </a:r>
            <a:r>
              <a:rPr lang="en-US" sz="1800" i="1" dirty="0">
                <a:latin typeface="+mn-lt"/>
              </a:rPr>
              <a:t> </a:t>
            </a:r>
            <a:r>
              <a:rPr lang="en-US" sz="1800" i="1" dirty="0" err="1">
                <a:latin typeface="+mn-lt"/>
              </a:rPr>
              <a:t>mua</a:t>
            </a:r>
            <a:r>
              <a:rPr lang="en-US" sz="1800" i="1" dirty="0">
                <a:latin typeface="+mn-lt"/>
              </a:rPr>
              <a:t> </a:t>
            </a:r>
            <a:r>
              <a:rPr lang="en-US" sz="1800" i="1" dirty="0" err="1">
                <a:latin typeface="+mn-lt"/>
              </a:rPr>
              <a:t>sắm</a:t>
            </a:r>
            <a:r>
              <a:rPr lang="en-US" sz="1800" i="1" dirty="0">
                <a:latin typeface="+mn-lt"/>
              </a:rPr>
              <a:t> </a:t>
            </a:r>
            <a:r>
              <a:rPr lang="en-US" sz="1800" i="1" dirty="0" err="1">
                <a:latin typeface="+mn-lt"/>
              </a:rPr>
              <a:t>trực</a:t>
            </a:r>
            <a:r>
              <a:rPr lang="en-US" sz="1800" i="1" dirty="0">
                <a:latin typeface="+mn-lt"/>
              </a:rPr>
              <a:t> </a:t>
            </a:r>
            <a:r>
              <a:rPr lang="en-US" sz="1800" i="1" dirty="0" err="1">
                <a:latin typeface="+mn-lt"/>
              </a:rPr>
              <a:t>quan</a:t>
            </a:r>
            <a:endParaRPr lang="en-US" sz="1800" i="1"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534205055"/>
              </p:ext>
            </p:extLst>
          </p:nvPr>
        </p:nvGraphicFramePr>
        <p:xfrm>
          <a:off x="433495" y="1894126"/>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19443232"/>
                    </a:ext>
                  </a:extLst>
                </a:gridCol>
              </a:tblGrid>
              <a:tr h="370840">
                <a:tc>
                  <a:txBody>
                    <a:bodyPr/>
                    <a:lstStyle/>
                    <a:p>
                      <a:r>
                        <a:rPr lang="en-US" sz="1800" b="0" i="0" kern="1200" dirty="0" smtClean="0">
                          <a:solidFill>
                            <a:schemeClr val="lt1"/>
                          </a:solidFill>
                          <a:effectLst/>
                          <a:latin typeface="Arial" panose="020B0604020202020204" pitchFamily="34" charset="0"/>
                          <a:ea typeface="+mn-ea"/>
                          <a:cs typeface="Arial" panose="020B0604020202020204" pitchFamily="34" charset="0"/>
                        </a:rPr>
                        <a:t>Chi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tiết</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sản</a:t>
                      </a:r>
                      <a:r>
                        <a:rPr lang="en-US" sz="1800" b="0" i="0" kern="1200" dirty="0" smtClean="0">
                          <a:solidFill>
                            <a:schemeClr val="lt1"/>
                          </a:solidFill>
                          <a:effectLst/>
                          <a:latin typeface="Arial" panose="020B0604020202020204" pitchFamily="34" charset="0"/>
                          <a:ea typeface="+mn-ea"/>
                          <a:cs typeface="Arial" panose="020B0604020202020204" pitchFamily="34" charset="0"/>
                        </a:rPr>
                        <a:t> </a:t>
                      </a:r>
                      <a:r>
                        <a:rPr lang="en-US" sz="1800" b="0" i="0" kern="1200" dirty="0" err="1" smtClean="0">
                          <a:solidFill>
                            <a:schemeClr val="lt1"/>
                          </a:solidFill>
                          <a:effectLst/>
                          <a:latin typeface="Arial" panose="020B0604020202020204" pitchFamily="34" charset="0"/>
                          <a:ea typeface="+mn-ea"/>
                          <a:cs typeface="Arial" panose="020B0604020202020204" pitchFamily="34" charset="0"/>
                        </a:rPr>
                        <a:t>phẩm</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5558560"/>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Hiển thị hình ảnh, thông số (CPU, màn hình), lựa chọn dung lượng/màu sắc và mô tả.</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3777477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104982779"/>
              </p:ext>
            </p:extLst>
          </p:nvPr>
        </p:nvGraphicFramePr>
        <p:xfrm>
          <a:off x="433495" y="3060196"/>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19443232"/>
                    </a:ext>
                  </a:extLst>
                </a:gridCol>
              </a:tblGrid>
              <a:tr h="370840">
                <a:tc>
                  <a:txBody>
                    <a:bodyPr/>
                    <a:lstStyle/>
                    <a:p>
                      <a:r>
                        <a:rPr lang="en-US" b="0" i="0" dirty="0" err="1" smtClean="0">
                          <a:solidFill>
                            <a:schemeClr val="bg1"/>
                          </a:solidFill>
                          <a:effectLst/>
                          <a:latin typeface="Arial" panose="020B0604020202020204" pitchFamily="34" charset="0"/>
                          <a:cs typeface="Arial" panose="020B0604020202020204" pitchFamily="34" charset="0"/>
                        </a:rPr>
                        <a:t>Giỏ</a:t>
                      </a:r>
                      <a:r>
                        <a:rPr lang="en-US" b="0" i="0" dirty="0" smtClean="0">
                          <a:solidFill>
                            <a:schemeClr val="bg1"/>
                          </a:solidFill>
                          <a:effectLst/>
                          <a:latin typeface="Arial" panose="020B0604020202020204" pitchFamily="34" charset="0"/>
                          <a:cs typeface="Arial" panose="020B0604020202020204" pitchFamily="34" charset="0"/>
                        </a:rPr>
                        <a:t> </a:t>
                      </a:r>
                      <a:r>
                        <a:rPr lang="en-US" b="0" i="0" dirty="0" err="1" smtClean="0">
                          <a:solidFill>
                            <a:schemeClr val="bg1"/>
                          </a:solidFill>
                          <a:effectLst/>
                          <a:latin typeface="Arial" panose="020B0604020202020204" pitchFamily="34" charset="0"/>
                          <a:cs typeface="Arial" panose="020B0604020202020204" pitchFamily="34" charset="0"/>
                        </a:rPr>
                        <a:t>hàng</a:t>
                      </a:r>
                      <a:r>
                        <a:rPr lang="en-US" b="0" i="0" dirty="0" smtClean="0">
                          <a:solidFill>
                            <a:schemeClr val="bg1"/>
                          </a:solidFill>
                          <a:effectLst/>
                          <a:latin typeface="Arial" panose="020B0604020202020204" pitchFamily="34" charset="0"/>
                          <a:cs typeface="Arial" panose="020B0604020202020204" pitchFamily="34" charset="0"/>
                        </a:rPr>
                        <a:t> (Cart)</a:t>
                      </a:r>
                      <a:endParaRPr lang="en-US"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5558560"/>
                  </a:ext>
                </a:extLst>
              </a:tr>
              <a:tr h="370840">
                <a:tc>
                  <a:txBody>
                    <a:bodyPr/>
                    <a:lstStyle/>
                    <a:p>
                      <a:r>
                        <a:rPr lang="vi-VN" sz="1800" b="0" i="0" kern="1200" dirty="0" smtClean="0">
                          <a:solidFill>
                            <a:schemeClr val="dk1"/>
                          </a:solidFill>
                          <a:effectLst/>
                          <a:latin typeface="Arial" panose="020B0604020202020204" pitchFamily="34" charset="0"/>
                          <a:ea typeface="+mn-ea"/>
                          <a:cs typeface="Arial" panose="020B0604020202020204" pitchFamily="34" charset="0"/>
                        </a:rPr>
                        <a:t>Tính tổng tiền tự động và cho phép cập nhật nhanh số lượng sản phẩm.</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3777477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05581389"/>
              </p:ext>
            </p:extLst>
          </p:nvPr>
        </p:nvGraphicFramePr>
        <p:xfrm>
          <a:off x="433495" y="4226266"/>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19443232"/>
                    </a:ext>
                  </a:extLst>
                </a:gridCol>
              </a:tblGrid>
              <a:tr h="370840">
                <a:tc>
                  <a:txBody>
                    <a:bodyPr/>
                    <a:lstStyle/>
                    <a:p>
                      <a:r>
                        <a:rPr lang="vi-VN" sz="1800" b="0" i="0" kern="1200" dirty="0" smtClean="0">
                          <a:solidFill>
                            <a:schemeClr val="lt1"/>
                          </a:solidFill>
                          <a:effectLst/>
                          <a:latin typeface="+mn-lt"/>
                          <a:ea typeface="+mn-ea"/>
                          <a:cs typeface="+mn-cs"/>
                        </a:rPr>
                        <a:t>Thanh toán &amp; Đơn hàng</a:t>
                      </a:r>
                      <a:endParaRPr lang="en-US" dirty="0">
                        <a:latin typeface="+mn-lt"/>
                        <a:cs typeface="Arial" panose="020B0604020202020204" pitchFamily="34" charset="0"/>
                      </a:endParaRPr>
                    </a:p>
                  </a:txBody>
                  <a:tcPr/>
                </a:tc>
                <a:extLst>
                  <a:ext uri="{0D108BD9-81ED-4DB2-BD59-A6C34878D82A}">
                    <a16:rowId xmlns:a16="http://schemas.microsoft.com/office/drawing/2014/main" val="3525558560"/>
                  </a:ext>
                </a:extLst>
              </a:tr>
              <a:tr h="370840">
                <a:tc>
                  <a:txBody>
                    <a:bodyPr/>
                    <a:lstStyle/>
                    <a:p>
                      <a:r>
                        <a:rPr lang="vi-VN" sz="1800" b="0" i="0" kern="1200" dirty="0" smtClean="0">
                          <a:solidFill>
                            <a:schemeClr val="dk1"/>
                          </a:solidFill>
                          <a:effectLst/>
                          <a:latin typeface="+mn-lt"/>
                          <a:ea typeface="+mn-ea"/>
                          <a:cs typeface="+mn-cs"/>
                        </a:rPr>
                        <a:t>Form nhập thông tin nhận hàng và trang xem chi tiết lịch sử đơn hàng đã đặt.</a:t>
                      </a:r>
                      <a:endParaRPr lang="en-US" dirty="0">
                        <a:latin typeface="+mn-lt"/>
                        <a:cs typeface="Arial" panose="020B0604020202020204" pitchFamily="34" charset="0"/>
                      </a:endParaRPr>
                    </a:p>
                  </a:txBody>
                  <a:tcPr/>
                </a:tc>
                <a:extLst>
                  <a:ext uri="{0D108BD9-81ED-4DB2-BD59-A6C34878D82A}">
                    <a16:rowId xmlns:a16="http://schemas.microsoft.com/office/drawing/2014/main" val="2137774777"/>
                  </a:ext>
                </a:extLst>
              </a:tr>
            </a:tbl>
          </a:graphicData>
        </a:graphic>
      </p:graphicFrame>
    </p:spTree>
    <p:extLst>
      <p:ext uri="{BB962C8B-B14F-4D97-AF65-F5344CB8AC3E}">
        <p14:creationId xmlns:p14="http://schemas.microsoft.com/office/powerpoint/2010/main" val="393508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0" y="97872"/>
            <a:ext cx="9968296"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Dashboard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kê</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Admin</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Hệ</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thống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báo</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cáo</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số</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liệu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tổng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quan</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giúp</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theo</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dõi</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hiệu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quả</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kinh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doanh</a:t>
            </a:r>
            <a:endParaRPr lang="en-US" sz="1800" i="1"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583641620"/>
              </p:ext>
            </p:extLst>
          </p:nvPr>
        </p:nvGraphicFramePr>
        <p:xfrm>
          <a:off x="320710" y="1197839"/>
          <a:ext cx="9309916" cy="1950386"/>
        </p:xfrm>
        <a:graphic>
          <a:graphicData uri="http://schemas.openxmlformats.org/drawingml/2006/table">
            <a:tbl>
              <a:tblPr firstRow="1" bandRow="1">
                <a:tableStyleId>{5C22544A-7EE6-4342-B048-85BDC9FD1C3A}</a:tableStyleId>
              </a:tblPr>
              <a:tblGrid>
                <a:gridCol w="2327479">
                  <a:extLst>
                    <a:ext uri="{9D8B030D-6E8A-4147-A177-3AD203B41FA5}">
                      <a16:colId xmlns:a16="http://schemas.microsoft.com/office/drawing/2014/main" val="3069598461"/>
                    </a:ext>
                  </a:extLst>
                </a:gridCol>
                <a:gridCol w="2327479">
                  <a:extLst>
                    <a:ext uri="{9D8B030D-6E8A-4147-A177-3AD203B41FA5}">
                      <a16:colId xmlns:a16="http://schemas.microsoft.com/office/drawing/2014/main" val="450707495"/>
                    </a:ext>
                  </a:extLst>
                </a:gridCol>
                <a:gridCol w="2327479">
                  <a:extLst>
                    <a:ext uri="{9D8B030D-6E8A-4147-A177-3AD203B41FA5}">
                      <a16:colId xmlns:a16="http://schemas.microsoft.com/office/drawing/2014/main" val="4182281266"/>
                    </a:ext>
                  </a:extLst>
                </a:gridCol>
                <a:gridCol w="2327479">
                  <a:extLst>
                    <a:ext uri="{9D8B030D-6E8A-4147-A177-3AD203B41FA5}">
                      <a16:colId xmlns:a16="http://schemas.microsoft.com/office/drawing/2014/main" val="3085860092"/>
                    </a:ext>
                  </a:extLst>
                </a:gridCol>
              </a:tblGrid>
              <a:tr h="338240">
                <a:tc>
                  <a:txBody>
                    <a:bodyPr/>
                    <a:lstStyle/>
                    <a:p>
                      <a:pPr algn="ctr"/>
                      <a:r>
                        <a:rPr lang="en-US" sz="1800" b="1" i="0" kern="1200" dirty="0" smtClean="0">
                          <a:solidFill>
                            <a:schemeClr val="lt1"/>
                          </a:solidFill>
                          <a:effectLst/>
                          <a:latin typeface="Arial" panose="020B0604020202020204" pitchFamily="34" charset="0"/>
                          <a:ea typeface="+mn-ea"/>
                          <a:cs typeface="Arial" panose="020B0604020202020204" pitchFamily="34" charset="0"/>
                        </a:rPr>
                        <a:t>Dashboard</a:t>
                      </a:r>
                      <a:endParaRPr lang="en-US" b="1" dirty="0">
                        <a:latin typeface="Arial" panose="020B0604020202020204" pitchFamily="34" charset="0"/>
                        <a:cs typeface="Arial" panose="020B0604020202020204" pitchFamily="34" charset="0"/>
                      </a:endParaRPr>
                    </a:p>
                  </a:txBody>
                  <a:tcPr/>
                </a:tc>
                <a:tc>
                  <a:txBody>
                    <a:bodyPr/>
                    <a:lstStyle/>
                    <a:p>
                      <a:pPr algn="ctr"/>
                      <a:r>
                        <a:rPr lang="en-US" sz="1800" b="1" i="0" kern="1200" dirty="0" err="1" smtClean="0">
                          <a:solidFill>
                            <a:schemeClr val="lt1"/>
                          </a:solidFill>
                          <a:effectLst/>
                          <a:latin typeface="Arial" panose="020B0604020202020204" pitchFamily="34" charset="0"/>
                          <a:ea typeface="+mn-ea"/>
                          <a:cs typeface="Arial" panose="020B0604020202020204" pitchFamily="34" charset="0"/>
                        </a:rPr>
                        <a:t>Biểu</a:t>
                      </a:r>
                      <a:r>
                        <a:rPr lang="en-US" sz="1800" b="1" i="0" kern="1200" dirty="0" smtClean="0">
                          <a:solidFill>
                            <a:schemeClr val="lt1"/>
                          </a:solidFill>
                          <a:effectLst/>
                          <a:latin typeface="Arial" panose="020B0604020202020204" pitchFamily="34" charset="0"/>
                          <a:ea typeface="+mn-ea"/>
                          <a:cs typeface="Arial" panose="020B0604020202020204" pitchFamily="34" charset="0"/>
                        </a:rPr>
                        <a:t> </a:t>
                      </a:r>
                      <a:r>
                        <a:rPr lang="en-US" sz="1800" b="1" i="0" kern="1200" dirty="0" err="1" smtClean="0">
                          <a:solidFill>
                            <a:schemeClr val="lt1"/>
                          </a:solidFill>
                          <a:effectLst/>
                          <a:latin typeface="Arial" panose="020B0604020202020204" pitchFamily="34" charset="0"/>
                          <a:ea typeface="+mn-ea"/>
                          <a:cs typeface="Arial" panose="020B0604020202020204" pitchFamily="34" charset="0"/>
                        </a:rPr>
                        <a:t>đồ</a:t>
                      </a:r>
                      <a:endParaRPr lang="en-US" b="1" dirty="0">
                        <a:latin typeface="Arial" panose="020B0604020202020204" pitchFamily="34" charset="0"/>
                        <a:cs typeface="Arial" panose="020B0604020202020204" pitchFamily="34" charset="0"/>
                      </a:endParaRPr>
                    </a:p>
                  </a:txBody>
                  <a:tcPr/>
                </a:tc>
                <a:tc>
                  <a:txBody>
                    <a:bodyPr/>
                    <a:lstStyle/>
                    <a:p>
                      <a:pPr algn="ctr"/>
                      <a:r>
                        <a:rPr lang="en-US" sz="1800" b="1" i="0" kern="1200" dirty="0" err="1" smtClean="0">
                          <a:solidFill>
                            <a:schemeClr val="lt1"/>
                          </a:solidFill>
                          <a:effectLst/>
                          <a:latin typeface="Arial" panose="020B0604020202020204" pitchFamily="34" charset="0"/>
                          <a:ea typeface="+mn-ea"/>
                          <a:cs typeface="Arial" panose="020B0604020202020204" pitchFamily="34" charset="0"/>
                        </a:rPr>
                        <a:t>Cảnh</a:t>
                      </a:r>
                      <a:r>
                        <a:rPr lang="en-US" sz="1800" b="1" i="0" kern="1200" dirty="0" smtClean="0">
                          <a:solidFill>
                            <a:schemeClr val="lt1"/>
                          </a:solidFill>
                          <a:effectLst/>
                          <a:latin typeface="Arial" panose="020B0604020202020204" pitchFamily="34" charset="0"/>
                          <a:ea typeface="+mn-ea"/>
                          <a:cs typeface="Arial" panose="020B0604020202020204" pitchFamily="34" charset="0"/>
                        </a:rPr>
                        <a:t> </a:t>
                      </a:r>
                      <a:r>
                        <a:rPr lang="en-US" sz="1800" b="1" i="0" kern="1200" dirty="0" err="1" smtClean="0">
                          <a:solidFill>
                            <a:schemeClr val="lt1"/>
                          </a:solidFill>
                          <a:effectLst/>
                          <a:latin typeface="Arial" panose="020B0604020202020204" pitchFamily="34" charset="0"/>
                          <a:ea typeface="+mn-ea"/>
                          <a:cs typeface="Arial" panose="020B0604020202020204" pitchFamily="34" charset="0"/>
                        </a:rPr>
                        <a:t>báo</a:t>
                      </a:r>
                      <a:endParaRPr lang="en-US" b="1" dirty="0">
                        <a:latin typeface="Arial" panose="020B0604020202020204" pitchFamily="34" charset="0"/>
                        <a:cs typeface="Arial" panose="020B0604020202020204" pitchFamily="34" charset="0"/>
                      </a:endParaRPr>
                    </a:p>
                  </a:txBody>
                  <a:tcPr/>
                </a:tc>
                <a:tc>
                  <a:txBody>
                    <a:bodyPr/>
                    <a:lstStyle/>
                    <a:p>
                      <a:pPr algn="ctr"/>
                      <a:r>
                        <a:rPr lang="en-US" sz="1800" b="1" i="0" kern="1200" dirty="0" err="1" smtClean="0">
                          <a:solidFill>
                            <a:schemeClr val="lt1"/>
                          </a:solidFill>
                          <a:effectLst/>
                          <a:latin typeface="Arial" panose="020B0604020202020204" pitchFamily="34" charset="0"/>
                          <a:ea typeface="+mn-ea"/>
                          <a:cs typeface="Arial" panose="020B0604020202020204" pitchFamily="34" charset="0"/>
                        </a:rPr>
                        <a:t>Báo</a:t>
                      </a:r>
                      <a:r>
                        <a:rPr lang="en-US" sz="1800" b="1" i="0" kern="1200" dirty="0" smtClean="0">
                          <a:solidFill>
                            <a:schemeClr val="lt1"/>
                          </a:solidFill>
                          <a:effectLst/>
                          <a:latin typeface="Arial" panose="020B0604020202020204" pitchFamily="34" charset="0"/>
                          <a:ea typeface="+mn-ea"/>
                          <a:cs typeface="Arial" panose="020B0604020202020204" pitchFamily="34" charset="0"/>
                        </a:rPr>
                        <a:t> </a:t>
                      </a:r>
                      <a:r>
                        <a:rPr lang="en-US" sz="1800" b="1" i="0" kern="1200" dirty="0" err="1" smtClean="0">
                          <a:solidFill>
                            <a:schemeClr val="lt1"/>
                          </a:solidFill>
                          <a:effectLst/>
                          <a:latin typeface="Arial" panose="020B0604020202020204" pitchFamily="34" charset="0"/>
                          <a:ea typeface="+mn-ea"/>
                          <a:cs typeface="Arial" panose="020B0604020202020204" pitchFamily="34" charset="0"/>
                        </a:rPr>
                        <a:t>cáo</a:t>
                      </a:r>
                      <a:endParaRPr lang="en-US"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9815888"/>
                  </a:ext>
                </a:extLst>
              </a:tr>
              <a:tr h="1584626">
                <a:tc>
                  <a:txBody>
                    <a:bodyPr/>
                    <a:lstStyle/>
                    <a:p>
                      <a:pPr algn="ctr"/>
                      <a:r>
                        <a:rPr lang="vi-VN" sz="1800" b="0" i="0" kern="1200" dirty="0" smtClean="0">
                          <a:solidFill>
                            <a:schemeClr val="dk1"/>
                          </a:solidFill>
                          <a:effectLst/>
                          <a:latin typeface="Arial" panose="020B0604020202020204" pitchFamily="34" charset="0"/>
                          <a:ea typeface="+mn-ea"/>
                          <a:cs typeface="Arial" panose="020B0604020202020204" pitchFamily="34" charset="0"/>
                        </a:rPr>
                        <a:t>Thống kê tổng số sản phẩm, đơn hàng, khách hàng và tổng doanh thu hiện tại.</a:t>
                      </a:r>
                      <a:endParaRPr lang="en-US" dirty="0">
                        <a:latin typeface="Arial" panose="020B0604020202020204" pitchFamily="34" charset="0"/>
                        <a:cs typeface="Arial" panose="020B0604020202020204" pitchFamily="34" charset="0"/>
                      </a:endParaRPr>
                    </a:p>
                  </a:txBody>
                  <a:tcPr/>
                </a:tc>
                <a:tc>
                  <a:txBody>
                    <a:bodyPr/>
                    <a:lstStyle/>
                    <a:p>
                      <a:pPr algn="ctr"/>
                      <a:r>
                        <a:rPr lang="vi-VN" sz="1800" b="0" i="0" kern="1200" dirty="0" smtClean="0">
                          <a:solidFill>
                            <a:schemeClr val="dk1"/>
                          </a:solidFill>
                          <a:effectLst/>
                          <a:latin typeface="Arial" panose="020B0604020202020204" pitchFamily="34" charset="0"/>
                          <a:ea typeface="+mn-ea"/>
                          <a:cs typeface="Arial" panose="020B0604020202020204" pitchFamily="34" charset="0"/>
                        </a:rPr>
                        <a:t>Theo dõi biến động đơn hàng theo 6 tháng và biểu đồ doanh thu hàng tháng.</a:t>
                      </a:r>
                      <a:endParaRPr lang="en-US" dirty="0">
                        <a:latin typeface="Arial" panose="020B0604020202020204" pitchFamily="34" charset="0"/>
                        <a:cs typeface="Arial" panose="020B0604020202020204" pitchFamily="34" charset="0"/>
                      </a:endParaRPr>
                    </a:p>
                  </a:txBody>
                  <a:tcPr/>
                </a:tc>
                <a:tc>
                  <a:txBody>
                    <a:bodyPr/>
                    <a:lstStyle/>
                    <a:p>
                      <a:pPr algn="ctr"/>
                      <a:r>
                        <a:rPr lang="vi-VN" sz="1800" b="0" i="0" kern="1200" dirty="0" smtClean="0">
                          <a:solidFill>
                            <a:schemeClr val="dk1"/>
                          </a:solidFill>
                          <a:effectLst/>
                          <a:latin typeface="Arial" panose="020B0604020202020204" pitchFamily="34" charset="0"/>
                          <a:ea typeface="+mn-ea"/>
                          <a:cs typeface="Arial" panose="020B0604020202020204" pitchFamily="34" charset="0"/>
                        </a:rPr>
                        <a:t>Danh sách sản phẩm sắp hết hàng và hiển thị các đơn hàng vừa phát sinh gần đây.</a:t>
                      </a:r>
                      <a:endParaRPr lang="en-US" dirty="0">
                        <a:latin typeface="Arial" panose="020B0604020202020204" pitchFamily="34" charset="0"/>
                        <a:cs typeface="Arial" panose="020B0604020202020204" pitchFamily="34" charset="0"/>
                      </a:endParaRPr>
                    </a:p>
                  </a:txBody>
                  <a:tcPr/>
                </a:tc>
                <a:tc>
                  <a:txBody>
                    <a:bodyPr/>
                    <a:lstStyle/>
                    <a:p>
                      <a:pPr algn="ctr"/>
                      <a:r>
                        <a:rPr lang="vi-VN" sz="1800" b="0" i="0" kern="1200" dirty="0" smtClean="0">
                          <a:solidFill>
                            <a:schemeClr val="dk1"/>
                          </a:solidFill>
                          <a:effectLst/>
                          <a:latin typeface="Arial" panose="020B0604020202020204" pitchFamily="34" charset="0"/>
                          <a:ea typeface="+mn-ea"/>
                          <a:cs typeface="Arial" panose="020B0604020202020204" pitchFamily="34" charset="0"/>
                        </a:rPr>
                        <a:t>Thống kê các sản phẩm bán chạy nhất để định hướng nhập hàng.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78172379"/>
                  </a:ext>
                </a:extLst>
              </a:tr>
            </a:tbl>
          </a:graphicData>
        </a:graphic>
      </p:graphicFrame>
      <p:pic>
        <p:nvPicPr>
          <p:cNvPr id="5" name="Picture 4"/>
          <p:cNvPicPr>
            <a:picLocks noChangeAspect="1"/>
          </p:cNvPicPr>
          <p:nvPr/>
        </p:nvPicPr>
        <p:blipFill>
          <a:blip r:embed="rId2"/>
          <a:stretch>
            <a:fillRect/>
          </a:stretch>
        </p:blipFill>
        <p:spPr>
          <a:xfrm>
            <a:off x="914400" y="3277502"/>
            <a:ext cx="7959422" cy="3442258"/>
          </a:xfrm>
          <a:prstGeom prst="rect">
            <a:avLst/>
          </a:prstGeom>
        </p:spPr>
      </p:pic>
    </p:spTree>
    <p:extLst>
      <p:ext uri="{BB962C8B-B14F-4D97-AF65-F5344CB8AC3E}">
        <p14:creationId xmlns:p14="http://schemas.microsoft.com/office/powerpoint/2010/main" val="4121152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89" y="83890"/>
            <a:ext cx="8596668" cy="1320800"/>
          </a:xfrm>
        </p:spPr>
        <p:txBody>
          <a:bodyPr>
            <a:normAutofit fontScale="90000"/>
          </a:bodyPr>
          <a:lstStyle/>
          <a:p>
            <a:pPr marL="571500" indent="-571500">
              <a:buFont typeface="Wingdings" panose="05000000000000000000" pitchFamily="2" charset="2"/>
              <a:buChar char="v"/>
            </a:pPr>
            <a:r>
              <a:rPr lang="vi-VN" dirty="0">
                <a:latin typeface="+mn-lt"/>
              </a:rPr>
              <a:t>Quản lý Sản phẩm, Đơn hàng và Khách hàng (Admin</a:t>
            </a:r>
            <a:r>
              <a:rPr lang="vi-VN" dirty="0" smtClean="0">
                <a:latin typeface="+mn-lt"/>
              </a:rPr>
              <a:t>)</a:t>
            </a:r>
            <a:r>
              <a:rPr lang="en-US" dirty="0" smtClean="0">
                <a:latin typeface="+mn-lt"/>
              </a:rPr>
              <a:t/>
            </a:r>
            <a:br>
              <a:rPr lang="en-US" dirty="0" smtClean="0">
                <a:latin typeface="+mn-lt"/>
              </a:rPr>
            </a:br>
            <a:r>
              <a:rPr lang="en-US" sz="1800" i="1" dirty="0" err="1">
                <a:latin typeface="+mn-lt"/>
              </a:rPr>
              <a:t>Giao</a:t>
            </a:r>
            <a:r>
              <a:rPr lang="en-US" sz="1800" i="1" dirty="0">
                <a:latin typeface="+mn-lt"/>
              </a:rPr>
              <a:t> </a:t>
            </a:r>
            <a:r>
              <a:rPr lang="en-US" sz="1800" i="1" dirty="0" err="1">
                <a:latin typeface="+mn-lt"/>
              </a:rPr>
              <a:t>diện</a:t>
            </a:r>
            <a:r>
              <a:rPr lang="en-US" sz="1800" i="1" dirty="0">
                <a:latin typeface="+mn-lt"/>
              </a:rPr>
              <a:t> </a:t>
            </a:r>
            <a:r>
              <a:rPr lang="en-US" sz="1800" i="1" dirty="0" err="1">
                <a:latin typeface="+mn-lt"/>
              </a:rPr>
              <a:t>thao</a:t>
            </a:r>
            <a:r>
              <a:rPr lang="en-US" sz="1800" i="1" dirty="0">
                <a:latin typeface="+mn-lt"/>
              </a:rPr>
              <a:t> </a:t>
            </a:r>
            <a:r>
              <a:rPr lang="en-US" sz="1800" i="1" dirty="0" err="1">
                <a:latin typeface="+mn-lt"/>
              </a:rPr>
              <a:t>tác</a:t>
            </a:r>
            <a:r>
              <a:rPr lang="en-US" sz="1800" i="1" dirty="0">
                <a:latin typeface="+mn-lt"/>
              </a:rPr>
              <a:t> </a:t>
            </a:r>
            <a:r>
              <a:rPr lang="en-US" sz="1800" i="1" dirty="0" err="1">
                <a:latin typeface="+mn-lt"/>
              </a:rPr>
              <a:t>dữ</a:t>
            </a:r>
            <a:r>
              <a:rPr lang="en-US" sz="1800" i="1" dirty="0">
                <a:latin typeface="+mn-lt"/>
              </a:rPr>
              <a:t> </a:t>
            </a:r>
            <a:r>
              <a:rPr lang="en-US" sz="1800" i="1" dirty="0" err="1">
                <a:latin typeface="+mn-lt"/>
              </a:rPr>
              <a:t>liệu</a:t>
            </a:r>
            <a:r>
              <a:rPr lang="en-US" sz="1800" i="1" dirty="0">
                <a:latin typeface="+mn-lt"/>
              </a:rPr>
              <a:t> </a:t>
            </a:r>
            <a:r>
              <a:rPr lang="en-US" sz="1800" i="1" dirty="0" err="1">
                <a:latin typeface="+mn-lt"/>
              </a:rPr>
              <a:t>tập</a:t>
            </a:r>
            <a:r>
              <a:rPr lang="en-US" sz="1800" i="1" dirty="0">
                <a:latin typeface="+mn-lt"/>
              </a:rPr>
              <a:t> </a:t>
            </a:r>
            <a:r>
              <a:rPr lang="en-US" sz="1800" i="1" dirty="0" err="1">
                <a:latin typeface="+mn-lt"/>
              </a:rPr>
              <a:t>trung</a:t>
            </a:r>
            <a:r>
              <a:rPr lang="en-US" sz="1800" i="1" dirty="0">
                <a:latin typeface="+mn-lt"/>
              </a:rPr>
              <a:t> </a:t>
            </a:r>
            <a:r>
              <a:rPr lang="en-US" sz="1800" i="1" dirty="0" err="1">
                <a:latin typeface="+mn-lt"/>
              </a:rPr>
              <a:t>dành</a:t>
            </a:r>
            <a:r>
              <a:rPr lang="en-US" sz="1800" i="1" dirty="0">
                <a:latin typeface="+mn-lt"/>
              </a:rPr>
              <a:t> </a:t>
            </a:r>
            <a:r>
              <a:rPr lang="en-US" sz="1800" i="1" dirty="0" err="1">
                <a:latin typeface="+mn-lt"/>
              </a:rPr>
              <a:t>cho</a:t>
            </a:r>
            <a:r>
              <a:rPr lang="en-US" sz="1800" i="1" dirty="0">
                <a:latin typeface="+mn-lt"/>
              </a:rPr>
              <a:t> </a:t>
            </a:r>
            <a:r>
              <a:rPr lang="en-US" sz="1800" i="1" dirty="0" err="1">
                <a:latin typeface="+mn-lt"/>
              </a:rPr>
              <a:t>quản</a:t>
            </a:r>
            <a:r>
              <a:rPr lang="en-US" sz="1800" i="1" dirty="0">
                <a:latin typeface="+mn-lt"/>
              </a:rPr>
              <a:t> </a:t>
            </a:r>
            <a:r>
              <a:rPr lang="en-US" sz="1800" i="1" dirty="0" err="1">
                <a:latin typeface="+mn-lt"/>
              </a:rPr>
              <a:t>trị</a:t>
            </a:r>
            <a:r>
              <a:rPr lang="en-US" sz="1800" i="1" dirty="0">
                <a:latin typeface="+mn-lt"/>
              </a:rPr>
              <a:t> </a:t>
            </a:r>
            <a:r>
              <a:rPr lang="en-US" sz="1800" i="1" dirty="0" err="1">
                <a:latin typeface="+mn-lt"/>
              </a:rPr>
              <a:t>viên</a:t>
            </a:r>
            <a:r>
              <a:rPr lang="en-US" sz="1800" i="1" dirty="0">
                <a:latin typeface="+mn-lt"/>
              </a:rPr>
              <a:t> </a:t>
            </a:r>
            <a:r>
              <a:rPr lang="en-US" sz="1800" i="1" dirty="0" err="1">
                <a:latin typeface="+mn-lt"/>
              </a:rPr>
              <a:t>hệ</a:t>
            </a:r>
            <a:r>
              <a:rPr lang="en-US" sz="1800" i="1" dirty="0">
                <a:latin typeface="+mn-lt"/>
              </a:rPr>
              <a:t> </a:t>
            </a:r>
            <a:r>
              <a:rPr lang="en-US" sz="1800" i="1" dirty="0" err="1">
                <a:latin typeface="+mn-lt"/>
              </a:rPr>
              <a:t>thống</a:t>
            </a:r>
            <a:r>
              <a:rPr lang="en-US" dirty="0" smtClean="0">
                <a:latin typeface="+mn-lt"/>
              </a:rPr>
              <a:t/>
            </a:r>
            <a:br>
              <a:rPr lang="en-US" dirty="0" smtClean="0">
                <a:latin typeface="+mn-lt"/>
              </a:rPr>
            </a:br>
            <a:endParaRPr lang="en-US" dirty="0">
              <a:latin typeface="+mn-lt"/>
            </a:endParaRPr>
          </a:p>
        </p:txBody>
      </p:sp>
      <p:pic>
        <p:nvPicPr>
          <p:cNvPr id="4" name="Picture 3"/>
          <p:cNvPicPr>
            <a:picLocks noChangeAspect="1"/>
          </p:cNvPicPr>
          <p:nvPr/>
        </p:nvPicPr>
        <p:blipFill>
          <a:blip r:embed="rId2"/>
          <a:stretch>
            <a:fillRect/>
          </a:stretch>
        </p:blipFill>
        <p:spPr>
          <a:xfrm>
            <a:off x="217954" y="1647344"/>
            <a:ext cx="9202883" cy="1247949"/>
          </a:xfrm>
          <a:prstGeom prst="rect">
            <a:avLst/>
          </a:prstGeom>
        </p:spPr>
      </p:pic>
      <p:sp>
        <p:nvSpPr>
          <p:cNvPr id="5" name="Rectangle 4"/>
          <p:cNvSpPr/>
          <p:nvPr/>
        </p:nvSpPr>
        <p:spPr>
          <a:xfrm>
            <a:off x="0" y="2953281"/>
            <a:ext cx="2056973" cy="369332"/>
          </a:xfrm>
          <a:prstGeom prst="rect">
            <a:avLst/>
          </a:prstGeom>
        </p:spPr>
        <p:txBody>
          <a:bodyPr wrap="none">
            <a:spAutoFit/>
          </a:bodyPr>
          <a:lstStyle/>
          <a:p>
            <a:r>
              <a:rPr lang="en-US" dirty="0" err="1">
                <a:solidFill>
                  <a:srgbClr val="0A0D17"/>
                </a:solidFill>
                <a:latin typeface="Lexend"/>
              </a:rPr>
              <a:t>Quản</a:t>
            </a:r>
            <a:r>
              <a:rPr lang="en-US" dirty="0">
                <a:solidFill>
                  <a:srgbClr val="0A0D17"/>
                </a:solidFill>
                <a:latin typeface="Lexend"/>
              </a:rPr>
              <a:t> </a:t>
            </a:r>
            <a:r>
              <a:rPr lang="en-US" dirty="0" err="1">
                <a:solidFill>
                  <a:srgbClr val="0A0D17"/>
                </a:solidFill>
                <a:latin typeface="Lexend"/>
              </a:rPr>
              <a:t>lý</a:t>
            </a:r>
            <a:r>
              <a:rPr lang="en-US" dirty="0">
                <a:solidFill>
                  <a:srgbClr val="0A0D17"/>
                </a:solidFill>
                <a:latin typeface="Lexend"/>
              </a:rPr>
              <a:t> </a:t>
            </a:r>
            <a:r>
              <a:rPr lang="en-US" dirty="0" err="1">
                <a:solidFill>
                  <a:srgbClr val="0A0D17"/>
                </a:solidFill>
                <a:latin typeface="Lexend"/>
              </a:rPr>
              <a:t>sản</a:t>
            </a:r>
            <a:r>
              <a:rPr lang="en-US" dirty="0">
                <a:solidFill>
                  <a:srgbClr val="0A0D17"/>
                </a:solidFill>
                <a:latin typeface="Lexend"/>
              </a:rPr>
              <a:t> </a:t>
            </a:r>
            <a:r>
              <a:rPr lang="en-US" dirty="0" err="1">
                <a:solidFill>
                  <a:srgbClr val="0A0D17"/>
                </a:solidFill>
                <a:latin typeface="Lexend"/>
              </a:rPr>
              <a:t>phẩm</a:t>
            </a:r>
            <a:endParaRPr lang="en-US" dirty="0"/>
          </a:p>
        </p:txBody>
      </p:sp>
      <p:sp>
        <p:nvSpPr>
          <p:cNvPr id="6" name="Rectangle 5"/>
          <p:cNvSpPr/>
          <p:nvPr/>
        </p:nvSpPr>
        <p:spPr>
          <a:xfrm>
            <a:off x="3805335" y="2953281"/>
            <a:ext cx="2028119" cy="369332"/>
          </a:xfrm>
          <a:prstGeom prst="rect">
            <a:avLst/>
          </a:prstGeom>
        </p:spPr>
        <p:txBody>
          <a:bodyPr wrap="none">
            <a:spAutoFit/>
          </a:bodyPr>
          <a:lstStyle/>
          <a:p>
            <a:r>
              <a:rPr lang="vi-VN" dirty="0">
                <a:solidFill>
                  <a:srgbClr val="0A0D17"/>
                </a:solidFill>
                <a:latin typeface="Lexend"/>
              </a:rPr>
              <a:t>Quản lý đơn hàng</a:t>
            </a:r>
            <a:endParaRPr lang="en-US" dirty="0"/>
          </a:p>
        </p:txBody>
      </p:sp>
      <p:sp>
        <p:nvSpPr>
          <p:cNvPr id="7" name="Rectangle 6"/>
          <p:cNvSpPr/>
          <p:nvPr/>
        </p:nvSpPr>
        <p:spPr>
          <a:xfrm>
            <a:off x="7562302" y="2895293"/>
            <a:ext cx="2236510" cy="369332"/>
          </a:xfrm>
          <a:prstGeom prst="rect">
            <a:avLst/>
          </a:prstGeom>
        </p:spPr>
        <p:txBody>
          <a:bodyPr wrap="none">
            <a:spAutoFit/>
          </a:bodyPr>
          <a:lstStyle/>
          <a:p>
            <a:r>
              <a:rPr lang="en-US" dirty="0" err="1">
                <a:solidFill>
                  <a:srgbClr val="0A0D17"/>
                </a:solidFill>
                <a:latin typeface="Lexend"/>
              </a:rPr>
              <a:t>Quản</a:t>
            </a:r>
            <a:r>
              <a:rPr lang="en-US" dirty="0">
                <a:solidFill>
                  <a:srgbClr val="0A0D17"/>
                </a:solidFill>
                <a:latin typeface="Lexend"/>
              </a:rPr>
              <a:t> </a:t>
            </a:r>
            <a:r>
              <a:rPr lang="en-US" dirty="0" err="1">
                <a:solidFill>
                  <a:srgbClr val="0A0D17"/>
                </a:solidFill>
                <a:latin typeface="Lexend"/>
              </a:rPr>
              <a:t>lý</a:t>
            </a:r>
            <a:r>
              <a:rPr lang="en-US" dirty="0">
                <a:solidFill>
                  <a:srgbClr val="0A0D17"/>
                </a:solidFill>
                <a:latin typeface="Lexend"/>
              </a:rPr>
              <a:t> </a:t>
            </a:r>
            <a:r>
              <a:rPr lang="en-US" dirty="0" err="1">
                <a:solidFill>
                  <a:srgbClr val="0A0D17"/>
                </a:solidFill>
                <a:latin typeface="Lexend"/>
              </a:rPr>
              <a:t>khách</a:t>
            </a:r>
            <a:r>
              <a:rPr lang="en-US" dirty="0">
                <a:solidFill>
                  <a:srgbClr val="0A0D17"/>
                </a:solidFill>
                <a:latin typeface="Lexend"/>
              </a:rPr>
              <a:t> </a:t>
            </a:r>
            <a:r>
              <a:rPr lang="en-US" dirty="0" err="1">
                <a:solidFill>
                  <a:srgbClr val="0A0D17"/>
                </a:solidFill>
                <a:latin typeface="Lexend"/>
              </a:rPr>
              <a:t>hàng</a:t>
            </a:r>
            <a:endParaRPr lang="en-US" dirty="0"/>
          </a:p>
        </p:txBody>
      </p:sp>
      <p:sp>
        <p:nvSpPr>
          <p:cNvPr id="8" name="Rectangle 7"/>
          <p:cNvSpPr/>
          <p:nvPr/>
        </p:nvSpPr>
        <p:spPr>
          <a:xfrm>
            <a:off x="2796" y="3508506"/>
            <a:ext cx="3238151" cy="923330"/>
          </a:xfrm>
          <a:prstGeom prst="rect">
            <a:avLst/>
          </a:prstGeom>
          <a:ln>
            <a:solidFill>
              <a:schemeClr val="accent1"/>
            </a:solidFill>
          </a:ln>
        </p:spPr>
        <p:txBody>
          <a:bodyPr wrap="square">
            <a:spAutoFit/>
          </a:bodyPr>
          <a:lstStyle/>
          <a:p>
            <a:r>
              <a:rPr lang="en-US" dirty="0" err="1">
                <a:latin typeface="Inter"/>
              </a:rPr>
              <a:t>Danh</a:t>
            </a:r>
            <a:r>
              <a:rPr lang="en-US" dirty="0">
                <a:latin typeface="Inter"/>
              </a:rPr>
              <a:t> </a:t>
            </a:r>
            <a:r>
              <a:rPr lang="en-US" dirty="0" err="1">
                <a:latin typeface="Inter"/>
              </a:rPr>
              <a:t>sách</a:t>
            </a:r>
            <a:r>
              <a:rPr lang="en-US" dirty="0">
                <a:latin typeface="Inter"/>
              </a:rPr>
              <a:t> </a:t>
            </a:r>
            <a:r>
              <a:rPr lang="en-US" dirty="0" err="1">
                <a:latin typeface="Inter"/>
              </a:rPr>
              <a:t>dạng</a:t>
            </a:r>
            <a:r>
              <a:rPr lang="en-US" dirty="0">
                <a:latin typeface="Inter"/>
              </a:rPr>
              <a:t> </a:t>
            </a:r>
            <a:r>
              <a:rPr lang="en-US" dirty="0" err="1">
                <a:latin typeface="Inter"/>
              </a:rPr>
              <a:t>bảng</a:t>
            </a:r>
            <a:r>
              <a:rPr lang="en-US" dirty="0">
                <a:latin typeface="Inter"/>
              </a:rPr>
              <a:t> </a:t>
            </a:r>
            <a:r>
              <a:rPr lang="en-US" dirty="0" err="1">
                <a:latin typeface="Inter"/>
              </a:rPr>
              <a:t>kèm</a:t>
            </a:r>
            <a:r>
              <a:rPr lang="en-US" dirty="0">
                <a:latin typeface="Inter"/>
              </a:rPr>
              <a:t> </a:t>
            </a:r>
            <a:r>
              <a:rPr lang="en-US" dirty="0" err="1">
                <a:latin typeface="Inter"/>
              </a:rPr>
              <a:t>tính</a:t>
            </a:r>
            <a:r>
              <a:rPr lang="en-US" dirty="0">
                <a:latin typeface="Inter"/>
              </a:rPr>
              <a:t> </a:t>
            </a:r>
            <a:r>
              <a:rPr lang="en-US" dirty="0" err="1">
                <a:latin typeface="Inter"/>
              </a:rPr>
              <a:t>năng</a:t>
            </a:r>
            <a:r>
              <a:rPr lang="en-US" dirty="0">
                <a:latin typeface="Inter"/>
              </a:rPr>
              <a:t> </a:t>
            </a:r>
            <a:r>
              <a:rPr lang="en-US" dirty="0" err="1">
                <a:latin typeface="Inter"/>
              </a:rPr>
              <a:t>Thêm</a:t>
            </a:r>
            <a:r>
              <a:rPr lang="en-US" dirty="0">
                <a:latin typeface="Inter"/>
              </a:rPr>
              <a:t>, </a:t>
            </a:r>
            <a:r>
              <a:rPr lang="en-US" dirty="0" err="1">
                <a:latin typeface="Inter"/>
              </a:rPr>
              <a:t>Sửa</a:t>
            </a:r>
            <a:r>
              <a:rPr lang="en-US" dirty="0">
                <a:latin typeface="Inter"/>
              </a:rPr>
              <a:t>, </a:t>
            </a:r>
            <a:r>
              <a:rPr lang="en-US" dirty="0" err="1">
                <a:latin typeface="Inter"/>
              </a:rPr>
              <a:t>Xóa</a:t>
            </a:r>
            <a:r>
              <a:rPr lang="en-US" dirty="0">
                <a:latin typeface="Inter"/>
              </a:rPr>
              <a:t> </a:t>
            </a:r>
            <a:r>
              <a:rPr lang="en-US" dirty="0" err="1">
                <a:latin typeface="Inter"/>
              </a:rPr>
              <a:t>và</a:t>
            </a:r>
            <a:r>
              <a:rPr lang="en-US" dirty="0">
                <a:latin typeface="Inter"/>
              </a:rPr>
              <a:t> </a:t>
            </a:r>
            <a:r>
              <a:rPr lang="en-US" dirty="0" err="1">
                <a:latin typeface="Inter"/>
              </a:rPr>
              <a:t>xem</a:t>
            </a:r>
            <a:r>
              <a:rPr lang="en-US" dirty="0">
                <a:latin typeface="Inter"/>
              </a:rPr>
              <a:t> chi </a:t>
            </a:r>
            <a:r>
              <a:rPr lang="en-US" dirty="0" err="1">
                <a:latin typeface="Inter"/>
              </a:rPr>
              <a:t>tiết</a:t>
            </a:r>
            <a:r>
              <a:rPr lang="en-US" dirty="0">
                <a:latin typeface="Inter"/>
              </a:rPr>
              <a:t> </a:t>
            </a:r>
            <a:r>
              <a:rPr lang="en-US" dirty="0" err="1">
                <a:latin typeface="Inter"/>
              </a:rPr>
              <a:t>từng</a:t>
            </a:r>
            <a:r>
              <a:rPr lang="en-US" dirty="0">
                <a:latin typeface="Inter"/>
              </a:rPr>
              <a:t> </a:t>
            </a:r>
            <a:r>
              <a:rPr lang="en-US" dirty="0" err="1">
                <a:latin typeface="Inter"/>
              </a:rPr>
              <a:t>mã</a:t>
            </a:r>
            <a:r>
              <a:rPr lang="en-US" dirty="0">
                <a:latin typeface="Inter"/>
              </a:rPr>
              <a:t> </a:t>
            </a:r>
            <a:r>
              <a:rPr lang="en-US" dirty="0" err="1">
                <a:latin typeface="Inter"/>
              </a:rPr>
              <a:t>hàng</a:t>
            </a:r>
            <a:r>
              <a:rPr lang="en-US" dirty="0">
                <a:latin typeface="Inter"/>
              </a:rPr>
              <a:t>.</a:t>
            </a:r>
            <a:endParaRPr lang="en-US" dirty="0"/>
          </a:p>
        </p:txBody>
      </p:sp>
      <p:sp>
        <p:nvSpPr>
          <p:cNvPr id="9" name="Rectangle 8"/>
          <p:cNvSpPr/>
          <p:nvPr/>
        </p:nvSpPr>
        <p:spPr>
          <a:xfrm>
            <a:off x="3540154" y="3494177"/>
            <a:ext cx="3168242" cy="923330"/>
          </a:xfrm>
          <a:prstGeom prst="rect">
            <a:avLst/>
          </a:prstGeom>
          <a:ln>
            <a:solidFill>
              <a:schemeClr val="accent1"/>
            </a:solidFill>
          </a:ln>
        </p:spPr>
        <p:txBody>
          <a:bodyPr wrap="square">
            <a:spAutoFit/>
          </a:bodyPr>
          <a:lstStyle/>
          <a:p>
            <a:pPr algn="ctr"/>
            <a:r>
              <a:rPr lang="en-US" dirty="0" err="1">
                <a:latin typeface="Inter"/>
              </a:rPr>
              <a:t>Cập</a:t>
            </a:r>
            <a:r>
              <a:rPr lang="en-US" dirty="0">
                <a:latin typeface="Inter"/>
              </a:rPr>
              <a:t> </a:t>
            </a:r>
            <a:r>
              <a:rPr lang="en-US" dirty="0" err="1">
                <a:latin typeface="Inter"/>
              </a:rPr>
              <a:t>nhật</a:t>
            </a:r>
            <a:r>
              <a:rPr lang="en-US" dirty="0">
                <a:latin typeface="Inter"/>
              </a:rPr>
              <a:t> </a:t>
            </a:r>
            <a:r>
              <a:rPr lang="en-US" dirty="0" err="1">
                <a:latin typeface="Inter"/>
              </a:rPr>
              <a:t>trạng</a:t>
            </a:r>
            <a:r>
              <a:rPr lang="en-US" dirty="0">
                <a:latin typeface="Inter"/>
              </a:rPr>
              <a:t> </a:t>
            </a:r>
            <a:r>
              <a:rPr lang="en-US" dirty="0" err="1">
                <a:latin typeface="Inter"/>
              </a:rPr>
              <a:t>thái</a:t>
            </a:r>
            <a:r>
              <a:rPr lang="en-US" dirty="0">
                <a:latin typeface="Inter"/>
              </a:rPr>
              <a:t> (</a:t>
            </a:r>
            <a:r>
              <a:rPr lang="en-US" dirty="0" err="1">
                <a:latin typeface="Inter"/>
              </a:rPr>
              <a:t>Chờ</a:t>
            </a:r>
            <a:r>
              <a:rPr lang="en-US" dirty="0">
                <a:latin typeface="Inter"/>
              </a:rPr>
              <a:t> </a:t>
            </a:r>
            <a:r>
              <a:rPr lang="en-US" dirty="0" err="1">
                <a:latin typeface="Inter"/>
              </a:rPr>
              <a:t>xác</a:t>
            </a:r>
            <a:r>
              <a:rPr lang="en-US" dirty="0">
                <a:latin typeface="Inter"/>
              </a:rPr>
              <a:t> </a:t>
            </a:r>
            <a:r>
              <a:rPr lang="en-US" dirty="0" err="1">
                <a:latin typeface="Inter"/>
              </a:rPr>
              <a:t>nhận</a:t>
            </a:r>
            <a:r>
              <a:rPr lang="en-US" dirty="0">
                <a:latin typeface="Inter"/>
              </a:rPr>
              <a:t>, </a:t>
            </a:r>
            <a:r>
              <a:rPr lang="en-US" dirty="0" err="1">
                <a:latin typeface="Inter"/>
              </a:rPr>
              <a:t>Đã</a:t>
            </a:r>
            <a:r>
              <a:rPr lang="en-US" dirty="0">
                <a:latin typeface="Inter"/>
              </a:rPr>
              <a:t> </a:t>
            </a:r>
            <a:r>
              <a:rPr lang="en-US" dirty="0" err="1">
                <a:latin typeface="Inter"/>
              </a:rPr>
              <a:t>xác</a:t>
            </a:r>
            <a:r>
              <a:rPr lang="en-US" dirty="0">
                <a:latin typeface="Inter"/>
              </a:rPr>
              <a:t> </a:t>
            </a:r>
            <a:r>
              <a:rPr lang="en-US" dirty="0" err="1">
                <a:latin typeface="Inter"/>
              </a:rPr>
              <a:t>nhận</a:t>
            </a:r>
            <a:r>
              <a:rPr lang="en-US" dirty="0">
                <a:latin typeface="Inter"/>
              </a:rPr>
              <a:t>, </a:t>
            </a:r>
            <a:r>
              <a:rPr lang="en-US" dirty="0" err="1">
                <a:latin typeface="Inter"/>
              </a:rPr>
              <a:t>Đang</a:t>
            </a:r>
            <a:r>
              <a:rPr lang="en-US" dirty="0">
                <a:latin typeface="Inter"/>
              </a:rPr>
              <a:t> </a:t>
            </a:r>
            <a:r>
              <a:rPr lang="en-US" dirty="0" err="1">
                <a:latin typeface="Inter"/>
              </a:rPr>
              <a:t>giao</a:t>
            </a:r>
            <a:r>
              <a:rPr lang="en-US" dirty="0">
                <a:latin typeface="Inter"/>
              </a:rPr>
              <a:t>, </a:t>
            </a:r>
            <a:r>
              <a:rPr lang="en-US" dirty="0" err="1">
                <a:latin typeface="Inter"/>
              </a:rPr>
              <a:t>Hoàn</a:t>
            </a:r>
            <a:r>
              <a:rPr lang="en-US" dirty="0">
                <a:latin typeface="Inter"/>
              </a:rPr>
              <a:t> </a:t>
            </a:r>
            <a:r>
              <a:rPr lang="en-US" dirty="0" err="1">
                <a:latin typeface="Inter"/>
              </a:rPr>
              <a:t>thành</a:t>
            </a:r>
            <a:r>
              <a:rPr lang="en-US" dirty="0">
                <a:latin typeface="Inter"/>
              </a:rPr>
              <a:t>, </a:t>
            </a:r>
            <a:r>
              <a:rPr lang="en-US" dirty="0" err="1">
                <a:latin typeface="Inter"/>
              </a:rPr>
              <a:t>Đã</a:t>
            </a:r>
            <a:r>
              <a:rPr lang="en-US" dirty="0">
                <a:latin typeface="Inter"/>
              </a:rPr>
              <a:t> </a:t>
            </a:r>
            <a:r>
              <a:rPr lang="en-US" dirty="0" err="1">
                <a:latin typeface="Inter"/>
              </a:rPr>
              <a:t>Hủy</a:t>
            </a:r>
            <a:r>
              <a:rPr lang="en-US" dirty="0">
                <a:latin typeface="Inter"/>
              </a:rPr>
              <a:t>).</a:t>
            </a:r>
            <a:endParaRPr lang="en-US" dirty="0"/>
          </a:p>
        </p:txBody>
      </p:sp>
      <p:sp>
        <p:nvSpPr>
          <p:cNvPr id="10" name="Rectangle 9"/>
          <p:cNvSpPr/>
          <p:nvPr/>
        </p:nvSpPr>
        <p:spPr>
          <a:xfrm>
            <a:off x="7209687" y="3494177"/>
            <a:ext cx="2941740" cy="923330"/>
          </a:xfrm>
          <a:prstGeom prst="rect">
            <a:avLst/>
          </a:prstGeom>
          <a:ln>
            <a:solidFill>
              <a:schemeClr val="accent1"/>
            </a:solidFill>
          </a:ln>
        </p:spPr>
        <p:txBody>
          <a:bodyPr wrap="square">
            <a:spAutoFit/>
          </a:bodyPr>
          <a:lstStyle/>
          <a:p>
            <a:pPr algn="ctr"/>
            <a:r>
              <a:rPr lang="vi-VN" dirty="0">
                <a:latin typeface="Inter"/>
              </a:rPr>
              <a:t>Xem danh sách liên hệ và số lượng đơn hàng mà mỗi khách đã thực hiện.</a:t>
            </a:r>
            <a:endParaRPr lang="en-US" dirty="0"/>
          </a:p>
        </p:txBody>
      </p:sp>
    </p:spTree>
    <p:extLst>
      <p:ext uri="{BB962C8B-B14F-4D97-AF65-F5344CB8AC3E}">
        <p14:creationId xmlns:p14="http://schemas.microsoft.com/office/powerpoint/2010/main" val="428792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heel(1)">
                                      <p:cBhvr>
                                        <p:cTn id="13" dur="2000"/>
                                        <p:tgtEl>
                                          <p:spTgt spid="7"/>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1)">
                                      <p:cBhvr>
                                        <p:cTn id="16" dur="2000"/>
                                        <p:tgtEl>
                                          <p:spTgt spid="9"/>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61" y="81094"/>
            <a:ext cx="8596668" cy="1320800"/>
          </a:xfrm>
        </p:spPr>
        <p:txBody>
          <a:bodyPr>
            <a:normAutofit fontScale="90000"/>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chế</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Đánh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giá</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mức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độ</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đáp</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ứng</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yêu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cầu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của</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hệ</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thống</a:t>
            </a:r>
            <a:r>
              <a:rPr lang="en-US" sz="1800" i="1" dirty="0">
                <a:latin typeface="Arial" panose="020B0604020202020204" pitchFamily="34" charset="0"/>
                <a:cs typeface="Arial" panose="020B0604020202020204" pitchFamily="34" charset="0"/>
              </a:rPr>
              <a:t> so </a:t>
            </a:r>
            <a:r>
              <a:rPr lang="en-US" sz="1800" i="1" dirty="0" err="1">
                <a:latin typeface="Arial" panose="020B0604020202020204" pitchFamily="34" charset="0"/>
                <a:cs typeface="Arial" panose="020B0604020202020204" pitchFamily="34" charset="0"/>
              </a:rPr>
              <a:t>với</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mục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tiêu</a:t>
            </a:r>
            <a:r>
              <a:rPr lang="en-US" sz="1800" i="1" dirty="0">
                <a:latin typeface="Arial" panose="020B0604020202020204" pitchFamily="34" charset="0"/>
                <a:cs typeface="Arial" panose="020B0604020202020204" pitchFamily="34" charset="0"/>
              </a:rPr>
              <a:t> ban </a:t>
            </a:r>
            <a:r>
              <a:rPr lang="en-US" sz="1800" i="1" dirty="0" err="1">
                <a:latin typeface="Arial" panose="020B0604020202020204" pitchFamily="34" charset="0"/>
                <a:cs typeface="Arial" panose="020B0604020202020204" pitchFamily="34" charset="0"/>
              </a:rPr>
              <a:t>đầu</a:t>
            </a:r>
            <a:endParaRPr lang="en-US" sz="1800" i="1"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945474811"/>
              </p:ext>
            </p:extLst>
          </p:nvPr>
        </p:nvGraphicFramePr>
        <p:xfrm>
          <a:off x="899487" y="1914322"/>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1306658111"/>
                    </a:ext>
                  </a:extLst>
                </a:gridCol>
              </a:tblGrid>
              <a:tr h="370840">
                <a:tc>
                  <a:txBody>
                    <a:bodyPr/>
                    <a:lstStyle/>
                    <a:p>
                      <a:r>
                        <a:rPr lang="vi-VN" sz="1800" b="0" i="0" kern="1200" dirty="0" smtClean="0">
                          <a:solidFill>
                            <a:schemeClr val="lt1"/>
                          </a:solidFill>
                          <a:effectLst/>
                          <a:latin typeface="+mn-lt"/>
                          <a:ea typeface="+mn-ea"/>
                          <a:cs typeface="+mn-cs"/>
                        </a:rPr>
                        <a:t>Đã làm được</a:t>
                      </a:r>
                      <a:endParaRPr lang="en-US" dirty="0"/>
                    </a:p>
                  </a:txBody>
                  <a:tcPr/>
                </a:tc>
                <a:extLst>
                  <a:ext uri="{0D108BD9-81ED-4DB2-BD59-A6C34878D82A}">
                    <a16:rowId xmlns:a16="http://schemas.microsoft.com/office/drawing/2014/main" val="2277921525"/>
                  </a:ext>
                </a:extLst>
              </a:tr>
              <a:tr h="293677">
                <a:tc>
                  <a:txBody>
                    <a:bodyPr/>
                    <a:lstStyle/>
                    <a:p>
                      <a:r>
                        <a:rPr lang="vi-VN" sz="1800" b="0" i="0" kern="1200" dirty="0" smtClean="0">
                          <a:solidFill>
                            <a:schemeClr val="dk1"/>
                          </a:solidFill>
                          <a:effectLst/>
                          <a:latin typeface="+mn-lt"/>
                          <a:ea typeface="+mn-ea"/>
                          <a:cs typeface="+mn-cs"/>
                        </a:rPr>
                        <a:t>Trang quản trị Admin, giao diện người dùng thân thiện, giỏ hàng, theo dõi đơn hàng và đăng ký/đăng nhập.</a:t>
                      </a:r>
                      <a:endParaRPr lang="en-US" dirty="0"/>
                    </a:p>
                  </a:txBody>
                  <a:tcPr/>
                </a:tc>
                <a:extLst>
                  <a:ext uri="{0D108BD9-81ED-4DB2-BD59-A6C34878D82A}">
                    <a16:rowId xmlns:a16="http://schemas.microsoft.com/office/drawing/2014/main" val="225972078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018954674"/>
              </p:ext>
            </p:extLst>
          </p:nvPr>
        </p:nvGraphicFramePr>
        <p:xfrm>
          <a:off x="899487" y="3169252"/>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335265721"/>
                    </a:ext>
                  </a:extLst>
                </a:gridCol>
              </a:tblGrid>
              <a:tr h="370840">
                <a:tc>
                  <a:txBody>
                    <a:bodyPr/>
                    <a:lstStyle/>
                    <a:p>
                      <a:r>
                        <a:rPr lang="vi-VN" sz="1800" b="0" i="0" kern="1200" dirty="0" smtClean="0">
                          <a:solidFill>
                            <a:schemeClr val="lt1"/>
                          </a:solidFill>
                          <a:effectLst/>
                          <a:latin typeface="+mn-lt"/>
                          <a:ea typeface="+mn-ea"/>
                          <a:cs typeface="+mn-cs"/>
                        </a:rPr>
                        <a:t>Tính năng chưa làm được</a:t>
                      </a:r>
                      <a:endParaRPr lang="en-US" dirty="0"/>
                    </a:p>
                  </a:txBody>
                  <a:tcPr/>
                </a:tc>
                <a:extLst>
                  <a:ext uri="{0D108BD9-81ED-4DB2-BD59-A6C34878D82A}">
                    <a16:rowId xmlns:a16="http://schemas.microsoft.com/office/drawing/2014/main" val="2325199067"/>
                  </a:ext>
                </a:extLst>
              </a:tr>
              <a:tr h="370840">
                <a:tc>
                  <a:txBody>
                    <a:bodyPr/>
                    <a:lstStyle/>
                    <a:p>
                      <a:r>
                        <a:rPr lang="en-US" sz="1800" b="0" i="0" kern="1200" dirty="0" err="1" smtClean="0">
                          <a:solidFill>
                            <a:schemeClr val="dk1"/>
                          </a:solidFill>
                          <a:effectLst/>
                          <a:latin typeface="+mn-lt"/>
                          <a:ea typeface="+mn-ea"/>
                          <a:cs typeface="+mn-cs"/>
                        </a:rPr>
                        <a:t>Thanh</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toán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trực</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tuyến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quản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lý</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tồn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kho</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tự</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động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hệ</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thống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thông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báo</a:t>
                      </a:r>
                      <a:r>
                        <a:rPr lang="en-US" sz="1800" b="0" i="0" kern="1200" dirty="0" smtClean="0">
                          <a:solidFill>
                            <a:schemeClr val="dk1"/>
                          </a:solidFill>
                          <a:effectLst/>
                          <a:latin typeface="+mn-lt"/>
                          <a:ea typeface="+mn-ea"/>
                          <a:cs typeface="+mn-cs"/>
                        </a:rPr>
                        <a:t> Email/SMS.</a:t>
                      </a:r>
                      <a:endParaRPr lang="en-US" dirty="0"/>
                    </a:p>
                  </a:txBody>
                  <a:tcPr/>
                </a:tc>
                <a:extLst>
                  <a:ext uri="{0D108BD9-81ED-4DB2-BD59-A6C34878D82A}">
                    <a16:rowId xmlns:a16="http://schemas.microsoft.com/office/drawing/2014/main" val="336764981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823695357"/>
              </p:ext>
            </p:extLst>
          </p:nvPr>
        </p:nvGraphicFramePr>
        <p:xfrm>
          <a:off x="899487" y="4345109"/>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335265721"/>
                    </a:ext>
                  </a:extLst>
                </a:gridCol>
              </a:tblGrid>
              <a:tr h="370840">
                <a:tc>
                  <a:txBody>
                    <a:bodyPr/>
                    <a:lstStyle/>
                    <a:p>
                      <a:r>
                        <a:rPr lang="en-US" sz="1800" b="0" i="0" kern="1200" dirty="0" err="1" smtClean="0">
                          <a:solidFill>
                            <a:schemeClr val="lt1"/>
                          </a:solidFill>
                          <a:effectLst/>
                          <a:latin typeface="+mn-lt"/>
                          <a:ea typeface="+mn-ea"/>
                          <a:cs typeface="+mn-cs"/>
                        </a:rPr>
                        <a:t>Hạn</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chế</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khác</a:t>
                      </a:r>
                      <a:endParaRPr lang="en-US" dirty="0"/>
                    </a:p>
                  </a:txBody>
                  <a:tcPr/>
                </a:tc>
                <a:extLst>
                  <a:ext uri="{0D108BD9-81ED-4DB2-BD59-A6C34878D82A}">
                    <a16:rowId xmlns:a16="http://schemas.microsoft.com/office/drawing/2014/main" val="2325199067"/>
                  </a:ext>
                </a:extLst>
              </a:tr>
              <a:tr h="370840">
                <a:tc>
                  <a:txBody>
                    <a:bodyPr/>
                    <a:lstStyle/>
                    <a:p>
                      <a:r>
                        <a:rPr lang="vi-VN" sz="1800" b="0" i="0" kern="1200" dirty="0" smtClean="0">
                          <a:solidFill>
                            <a:schemeClr val="dk1"/>
                          </a:solidFill>
                          <a:effectLst/>
                          <a:latin typeface="+mn-lt"/>
                          <a:ea typeface="+mn-ea"/>
                          <a:cs typeface="+mn-cs"/>
                        </a:rPr>
                        <a:t>Chưa có AI Chatbot, đánh giá sản phẩm, mã giảm giá và đăng nhập qua mạng xã hội.</a:t>
                      </a:r>
                      <a:endParaRPr lang="en-US" dirty="0"/>
                    </a:p>
                  </a:txBody>
                  <a:tcPr/>
                </a:tc>
                <a:extLst>
                  <a:ext uri="{0D108BD9-81ED-4DB2-BD59-A6C34878D82A}">
                    <a16:rowId xmlns:a16="http://schemas.microsoft.com/office/drawing/2014/main" val="3367649812"/>
                  </a:ext>
                </a:extLst>
              </a:tr>
            </a:tbl>
          </a:graphicData>
        </a:graphic>
      </p:graphicFrame>
    </p:spTree>
    <p:extLst>
      <p:ext uri="{BB962C8B-B14F-4D97-AF65-F5344CB8AC3E}">
        <p14:creationId xmlns:p14="http://schemas.microsoft.com/office/powerpoint/2010/main" val="247131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par>
                                <p:cTn id="11" presetID="16" presetClass="entr" presetSubtype="2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828" y="97872"/>
            <a:ext cx="8596668" cy="1320800"/>
          </a:xfrm>
        </p:spPr>
        <p:txBody>
          <a:bodyPr>
            <a:normAutofit fontScale="90000"/>
          </a:bodyPr>
          <a:lstStyle/>
          <a:p>
            <a:pPr marL="571500" indent="-571500">
              <a:buFont typeface="Wingdings" panose="05000000000000000000" pitchFamily="2" charset="2"/>
              <a:buChar char="v"/>
            </a:pPr>
            <a:r>
              <a:rPr lang="vi-VN" dirty="0">
                <a:latin typeface="+mn-lt"/>
              </a:rPr>
              <a:t>Đánh giá thuận lợi, khó khăn và hướng phát </a:t>
            </a:r>
            <a:r>
              <a:rPr lang="vi-VN" dirty="0" smtClean="0">
                <a:latin typeface="+mn-lt"/>
              </a:rPr>
              <a:t>triển</a:t>
            </a:r>
            <a:r>
              <a:rPr lang="en-US" dirty="0" smtClean="0">
                <a:latin typeface="+mn-lt"/>
              </a:rPr>
              <a:t/>
            </a:r>
            <a:br>
              <a:rPr lang="en-US" dirty="0" smtClean="0">
                <a:latin typeface="+mn-lt"/>
              </a:rPr>
            </a:br>
            <a:r>
              <a:rPr lang="vi-VN" sz="1800" dirty="0">
                <a:latin typeface="+mn-lt"/>
              </a:rPr>
              <a:t>Kế hoạch nâng cấp hệ thống trong tương lai để hoàn thiện dịch vụ</a:t>
            </a:r>
            <a:endParaRPr lang="en-US" sz="18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2788836034"/>
              </p:ext>
            </p:extLst>
          </p:nvPr>
        </p:nvGraphicFramePr>
        <p:xfrm>
          <a:off x="1209878" y="1801846"/>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9397370"/>
                    </a:ext>
                  </a:extLst>
                </a:gridCol>
              </a:tblGrid>
              <a:tr h="370840">
                <a:tc>
                  <a:txBody>
                    <a:bodyPr/>
                    <a:lstStyle/>
                    <a:p>
                      <a:r>
                        <a:rPr lang="en-US" sz="1800" b="0" i="0" kern="1200" dirty="0" err="1" smtClean="0">
                          <a:solidFill>
                            <a:schemeClr val="lt1"/>
                          </a:solidFill>
                          <a:effectLst/>
                          <a:latin typeface="+mn-lt"/>
                          <a:ea typeface="+mn-ea"/>
                          <a:cs typeface="+mn-cs"/>
                        </a:rPr>
                        <a:t>Thuận</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lợi</a:t>
                      </a:r>
                      <a:endParaRPr lang="en-US" dirty="0"/>
                    </a:p>
                  </a:txBody>
                  <a:tcPr/>
                </a:tc>
                <a:extLst>
                  <a:ext uri="{0D108BD9-81ED-4DB2-BD59-A6C34878D82A}">
                    <a16:rowId xmlns:a16="http://schemas.microsoft.com/office/drawing/2014/main" val="2979050645"/>
                  </a:ext>
                </a:extLst>
              </a:tr>
              <a:tr h="370840">
                <a:tc>
                  <a:txBody>
                    <a:bodyPr/>
                    <a:lstStyle/>
                    <a:p>
                      <a:r>
                        <a:rPr lang="vi-VN" sz="1800" b="0" i="0" kern="1200" dirty="0" smtClean="0">
                          <a:solidFill>
                            <a:schemeClr val="dk1"/>
                          </a:solidFill>
                          <a:effectLst/>
                          <a:latin typeface="+mn-lt"/>
                          <a:ea typeface="+mn-ea"/>
                          <a:cs typeface="+mn-cs"/>
                        </a:rPr>
                        <a:t>Sự hướng dẫn từ giảng viên, nguồn tài liệu Internet dồi dào và công nghệ ASP.NET phổ biến</a:t>
                      </a:r>
                      <a:endParaRPr lang="en-US" dirty="0"/>
                    </a:p>
                  </a:txBody>
                  <a:tcPr/>
                </a:tc>
                <a:extLst>
                  <a:ext uri="{0D108BD9-81ED-4DB2-BD59-A6C34878D82A}">
                    <a16:rowId xmlns:a16="http://schemas.microsoft.com/office/drawing/2014/main" val="21977856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10313656"/>
              </p:ext>
            </p:extLst>
          </p:nvPr>
        </p:nvGraphicFramePr>
        <p:xfrm>
          <a:off x="1209878" y="3011259"/>
          <a:ext cx="8128000" cy="7416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9397370"/>
                    </a:ext>
                  </a:extLst>
                </a:gridCol>
              </a:tblGrid>
              <a:tr h="370840">
                <a:tc>
                  <a:txBody>
                    <a:bodyPr/>
                    <a:lstStyle/>
                    <a:p>
                      <a:r>
                        <a:rPr lang="en-US" sz="1800" b="0" i="0" kern="1200" dirty="0" err="1" smtClean="0">
                          <a:solidFill>
                            <a:schemeClr val="lt1"/>
                          </a:solidFill>
                          <a:effectLst/>
                          <a:latin typeface="+mn-lt"/>
                          <a:ea typeface="+mn-ea"/>
                          <a:cs typeface="+mn-cs"/>
                        </a:rPr>
                        <a:t>Khó</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khăn</a:t>
                      </a:r>
                      <a:endParaRPr lang="en-US" dirty="0"/>
                    </a:p>
                  </a:txBody>
                  <a:tcPr/>
                </a:tc>
                <a:extLst>
                  <a:ext uri="{0D108BD9-81ED-4DB2-BD59-A6C34878D82A}">
                    <a16:rowId xmlns:a16="http://schemas.microsoft.com/office/drawing/2014/main" val="2979050645"/>
                  </a:ext>
                </a:extLst>
              </a:tr>
              <a:tr h="370840">
                <a:tc>
                  <a:txBody>
                    <a:bodyPr/>
                    <a:lstStyle/>
                    <a:p>
                      <a:r>
                        <a:rPr lang="en-US" sz="1800" b="0" i="0" kern="1200" dirty="0" err="1" smtClean="0">
                          <a:solidFill>
                            <a:schemeClr val="dk1"/>
                          </a:solidFill>
                          <a:effectLst/>
                          <a:latin typeface="+mn-lt"/>
                          <a:ea typeface="+mn-ea"/>
                          <a:cs typeface="+mn-cs"/>
                        </a:rPr>
                        <a:t>Thời</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gian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hạn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chế</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vừa</a:t>
                      </a:r>
                      <a:r>
                        <a:rPr lang="en-US" sz="1800" b="0" i="0" kern="1200" baseline="0" dirty="0" smtClean="0">
                          <a:solidFill>
                            <a:schemeClr val="dk1"/>
                          </a:solidFill>
                          <a:effectLst/>
                          <a:latin typeface="+mn-lt"/>
                          <a:ea typeface="+mn-ea"/>
                          <a:cs typeface="+mn-cs"/>
                        </a:rPr>
                        <a:t> </a:t>
                      </a:r>
                      <a:r>
                        <a:rPr lang="en-US" sz="1800" b="0" i="0" kern="1200" baseline="0" dirty="0" err="1" smtClean="0">
                          <a:solidFill>
                            <a:schemeClr val="dk1"/>
                          </a:solidFill>
                          <a:effectLst/>
                          <a:latin typeface="+mn-lt"/>
                          <a:ea typeface="+mn-ea"/>
                          <a:cs typeface="+mn-cs"/>
                        </a:rPr>
                        <a:t>học</a:t>
                      </a:r>
                      <a:r>
                        <a:rPr lang="en-US" sz="1800" b="0" i="0" kern="1200" baseline="0" dirty="0" smtClean="0">
                          <a:solidFill>
                            <a:schemeClr val="dk1"/>
                          </a:solidFill>
                          <a:effectLst/>
                          <a:latin typeface="+mn-lt"/>
                          <a:ea typeface="+mn-ea"/>
                          <a:cs typeface="+mn-cs"/>
                        </a:rPr>
                        <a:t> </a:t>
                      </a:r>
                      <a:r>
                        <a:rPr lang="en-US" sz="1800" b="0" i="0" kern="1200" baseline="0" dirty="0" err="1" smtClean="0">
                          <a:solidFill>
                            <a:schemeClr val="dk1"/>
                          </a:solidFill>
                          <a:effectLst/>
                          <a:latin typeface="+mn-lt"/>
                          <a:ea typeface="+mn-ea"/>
                          <a:cs typeface="+mn-cs"/>
                        </a:rPr>
                        <a:t>vừa</a:t>
                      </a:r>
                      <a:r>
                        <a:rPr lang="en-US" sz="1800" b="0" i="0" kern="1200" baseline="0" dirty="0" smtClean="0">
                          <a:solidFill>
                            <a:schemeClr val="dk1"/>
                          </a:solidFill>
                          <a:effectLst/>
                          <a:latin typeface="+mn-lt"/>
                          <a:ea typeface="+mn-ea"/>
                          <a:cs typeface="+mn-cs"/>
                        </a:rPr>
                        <a:t> </a:t>
                      </a:r>
                      <a:r>
                        <a:rPr lang="en-US" sz="1800" b="0" i="0" kern="1200" baseline="0" dirty="0" err="1" smtClean="0">
                          <a:solidFill>
                            <a:schemeClr val="dk1"/>
                          </a:solidFill>
                          <a:effectLst/>
                          <a:latin typeface="+mn-lt"/>
                          <a:ea typeface="+mn-ea"/>
                          <a:cs typeface="+mn-cs"/>
                        </a:rPr>
                        <a:t>làm</a:t>
                      </a:r>
                      <a:r>
                        <a:rPr lang="en-US" sz="1800" b="0" i="0" kern="1200" baseline="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cùng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lúc</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và</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thiếu</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kinh</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nghiệm</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thực</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tế</a:t>
                      </a:r>
                      <a:endParaRPr lang="en-US" dirty="0"/>
                    </a:p>
                  </a:txBody>
                  <a:tcPr/>
                </a:tc>
                <a:extLst>
                  <a:ext uri="{0D108BD9-81ED-4DB2-BD59-A6C34878D82A}">
                    <a16:rowId xmlns:a16="http://schemas.microsoft.com/office/drawing/2014/main" val="21977856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85691090"/>
              </p:ext>
            </p:extLst>
          </p:nvPr>
        </p:nvGraphicFramePr>
        <p:xfrm>
          <a:off x="1209878" y="3951432"/>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9397370"/>
                    </a:ext>
                  </a:extLst>
                </a:gridCol>
              </a:tblGrid>
              <a:tr h="370840">
                <a:tc>
                  <a:txBody>
                    <a:bodyPr/>
                    <a:lstStyle/>
                    <a:p>
                      <a:r>
                        <a:rPr lang="vi-VN" sz="1800" b="0" i="0" kern="1200" dirty="0" smtClean="0">
                          <a:solidFill>
                            <a:schemeClr val="lt1"/>
                          </a:solidFill>
                          <a:effectLst/>
                          <a:latin typeface="+mn-lt"/>
                          <a:ea typeface="+mn-ea"/>
                          <a:cs typeface="+mn-cs"/>
                        </a:rPr>
                        <a:t>Tương lai</a:t>
                      </a:r>
                      <a:endParaRPr lang="en-US" dirty="0"/>
                    </a:p>
                  </a:txBody>
                  <a:tcPr/>
                </a:tc>
                <a:extLst>
                  <a:ext uri="{0D108BD9-81ED-4DB2-BD59-A6C34878D82A}">
                    <a16:rowId xmlns:a16="http://schemas.microsoft.com/office/drawing/2014/main" val="2979050645"/>
                  </a:ext>
                </a:extLst>
              </a:tr>
              <a:tr h="370840">
                <a:tc>
                  <a:txBody>
                    <a:bodyPr/>
                    <a:lstStyle/>
                    <a:p>
                      <a:r>
                        <a:rPr lang="en-US" sz="1800" b="0" i="0" kern="1200" dirty="0" err="1" smtClean="0">
                          <a:solidFill>
                            <a:schemeClr val="dk1"/>
                          </a:solidFill>
                          <a:effectLst/>
                          <a:latin typeface="+mn-lt"/>
                          <a:ea typeface="+mn-ea"/>
                          <a:cs typeface="+mn-cs"/>
                        </a:rPr>
                        <a:t>Tích</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hợp</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thanh</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toán</a:t>
                      </a:r>
                      <a:r>
                        <a:rPr lang="en-US" sz="1800" b="0" i="0" kern="1200" dirty="0" smtClean="0">
                          <a:solidFill>
                            <a:schemeClr val="dk1"/>
                          </a:solidFill>
                          <a:effectLst/>
                          <a:latin typeface="+mn-lt"/>
                          <a:ea typeface="+mn-ea"/>
                          <a:cs typeface="+mn-cs"/>
                        </a:rPr>
                        <a:t> online (</a:t>
                      </a:r>
                      <a:r>
                        <a:rPr lang="en-US" sz="1800" b="0" i="0" kern="1200" dirty="0" err="1" smtClean="0">
                          <a:solidFill>
                            <a:schemeClr val="dk1"/>
                          </a:solidFill>
                          <a:effectLst/>
                          <a:latin typeface="+mn-lt"/>
                          <a:ea typeface="+mn-ea"/>
                          <a:cs typeface="+mn-cs"/>
                        </a:rPr>
                        <a:t>VNPay</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Momo</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quản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lý</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kho</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tự</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động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và</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hệ</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thống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thông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báo</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tự</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động</a:t>
                      </a:r>
                      <a:endParaRPr lang="en-US" dirty="0"/>
                    </a:p>
                  </a:txBody>
                  <a:tcPr/>
                </a:tc>
                <a:extLst>
                  <a:ext uri="{0D108BD9-81ED-4DB2-BD59-A6C34878D82A}">
                    <a16:rowId xmlns:a16="http://schemas.microsoft.com/office/drawing/2014/main" val="21977856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538605964"/>
              </p:ext>
            </p:extLst>
          </p:nvPr>
        </p:nvGraphicFramePr>
        <p:xfrm>
          <a:off x="1209878" y="5160845"/>
          <a:ext cx="8128000" cy="10109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349397370"/>
                    </a:ext>
                  </a:extLst>
                </a:gridCol>
              </a:tblGrid>
              <a:tr h="370840">
                <a:tc>
                  <a:txBody>
                    <a:bodyPr/>
                    <a:lstStyle/>
                    <a:p>
                      <a:r>
                        <a:rPr lang="en-US" sz="1800" b="0" i="0" kern="1200" dirty="0" err="1" smtClean="0">
                          <a:solidFill>
                            <a:schemeClr val="lt1"/>
                          </a:solidFill>
                          <a:effectLst/>
                          <a:latin typeface="+mn-lt"/>
                          <a:ea typeface="+mn-ea"/>
                          <a:cs typeface="+mn-cs"/>
                        </a:rPr>
                        <a:t>Cải</a:t>
                      </a:r>
                      <a:r>
                        <a:rPr lang="en-US" sz="1800" b="0" i="0" kern="1200" dirty="0" smtClean="0">
                          <a:solidFill>
                            <a:schemeClr val="lt1"/>
                          </a:solidFill>
                          <a:effectLst/>
                          <a:latin typeface="+mn-lt"/>
                          <a:ea typeface="+mn-ea"/>
                          <a:cs typeface="+mn-cs"/>
                        </a:rPr>
                        <a:t> </a:t>
                      </a:r>
                      <a:r>
                        <a:rPr lang="en-US" sz="1800" b="0" i="0" kern="1200" dirty="0" err="1" smtClean="0">
                          <a:solidFill>
                            <a:schemeClr val="lt1"/>
                          </a:solidFill>
                          <a:effectLst/>
                          <a:latin typeface="+mn-lt"/>
                          <a:ea typeface="+mn-ea"/>
                          <a:cs typeface="+mn-cs"/>
                        </a:rPr>
                        <a:t>tiến</a:t>
                      </a:r>
                      <a:endParaRPr lang="en-US" dirty="0"/>
                    </a:p>
                  </a:txBody>
                  <a:tcPr/>
                </a:tc>
                <a:extLst>
                  <a:ext uri="{0D108BD9-81ED-4DB2-BD59-A6C34878D82A}">
                    <a16:rowId xmlns:a16="http://schemas.microsoft.com/office/drawing/2014/main" val="2979050645"/>
                  </a:ext>
                </a:extLst>
              </a:tr>
              <a:tr h="370840">
                <a:tc>
                  <a:txBody>
                    <a:bodyPr/>
                    <a:lstStyle/>
                    <a:p>
                      <a:r>
                        <a:rPr lang="en-US" sz="1800" b="0" i="0" kern="1200" dirty="0" err="1" smtClean="0">
                          <a:solidFill>
                            <a:schemeClr val="dk1"/>
                          </a:solidFill>
                          <a:effectLst/>
                          <a:latin typeface="+mn-lt"/>
                          <a:ea typeface="+mn-ea"/>
                          <a:cs typeface="+mn-cs"/>
                        </a:rPr>
                        <a:t>Nâng</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cấp</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giao</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diện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hiện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đại</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tích</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hợp</a:t>
                      </a:r>
                      <a:r>
                        <a:rPr lang="en-US" sz="1800" b="0" i="0" kern="1200" dirty="0" smtClean="0">
                          <a:solidFill>
                            <a:schemeClr val="dk1"/>
                          </a:solidFill>
                          <a:effectLst/>
                          <a:latin typeface="+mn-lt"/>
                          <a:ea typeface="+mn-ea"/>
                          <a:cs typeface="+mn-cs"/>
                        </a:rPr>
                        <a:t> AI </a:t>
                      </a:r>
                      <a:r>
                        <a:rPr lang="en-US" sz="1800" b="0" i="0" kern="1200" dirty="0" err="1" smtClean="0">
                          <a:solidFill>
                            <a:schemeClr val="dk1"/>
                          </a:solidFill>
                          <a:effectLst/>
                          <a:latin typeface="+mn-lt"/>
                          <a:ea typeface="+mn-ea"/>
                          <a:cs typeface="+mn-cs"/>
                        </a:rPr>
                        <a:t>gợi</a:t>
                      </a:r>
                      <a:r>
                        <a:rPr lang="en-US" sz="1800" b="0" i="0" kern="1200" dirty="0" smtClean="0">
                          <a:solidFill>
                            <a:schemeClr val="dk1"/>
                          </a:solidFill>
                          <a:effectLst/>
                          <a:latin typeface="+mn-lt"/>
                          <a:ea typeface="+mn-ea"/>
                          <a:cs typeface="+mn-cs"/>
                        </a:rPr>
                        <a:t> ý </a:t>
                      </a:r>
                      <a:r>
                        <a:rPr lang="en-US" sz="1800" b="0" i="0" kern="1200" dirty="0" err="1" smtClean="0">
                          <a:solidFill>
                            <a:schemeClr val="dk1"/>
                          </a:solidFill>
                          <a:effectLst/>
                          <a:latin typeface="+mn-lt"/>
                          <a:ea typeface="+mn-ea"/>
                          <a:cs typeface="+mn-cs"/>
                        </a:rPr>
                        <a:t>sản</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phẩm</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và</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Chatbot</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hỗ</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trợ</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trực</a:t>
                      </a:r>
                      <a:r>
                        <a:rPr lang="en-US" sz="1800" b="0" i="0" kern="1200" dirty="0" smtClean="0">
                          <a:solidFill>
                            <a:schemeClr val="dk1"/>
                          </a:solidFill>
                          <a:effectLst/>
                          <a:latin typeface="+mn-lt"/>
                          <a:ea typeface="+mn-ea"/>
                          <a:cs typeface="+mn-cs"/>
                        </a:rPr>
                        <a:t> </a:t>
                      </a:r>
                      <a:r>
                        <a:rPr lang="en-US" sz="1800" b="0" i="0" kern="1200" dirty="0" err="1" smtClean="0">
                          <a:solidFill>
                            <a:schemeClr val="dk1"/>
                          </a:solidFill>
                          <a:effectLst/>
                          <a:latin typeface="+mn-lt"/>
                          <a:ea typeface="+mn-ea"/>
                          <a:cs typeface="+mn-cs"/>
                        </a:rPr>
                        <a:t>tuyến</a:t>
                      </a:r>
                      <a:endParaRPr lang="en-US" dirty="0"/>
                    </a:p>
                  </a:txBody>
                  <a:tcPr/>
                </a:tc>
                <a:extLst>
                  <a:ext uri="{0D108BD9-81ED-4DB2-BD59-A6C34878D82A}">
                    <a16:rowId xmlns:a16="http://schemas.microsoft.com/office/drawing/2014/main" val="219778567"/>
                  </a:ext>
                </a:extLst>
              </a:tr>
            </a:tbl>
          </a:graphicData>
        </a:graphic>
      </p:graphicFrame>
    </p:spTree>
    <p:extLst>
      <p:ext uri="{BB962C8B-B14F-4D97-AF65-F5344CB8AC3E}">
        <p14:creationId xmlns:p14="http://schemas.microsoft.com/office/powerpoint/2010/main" val="316418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par>
                                <p:cTn id="14" presetID="16" presetClass="entr" presetSubtype="21"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44706" y="1342238"/>
            <a:ext cx="6666782" cy="5085424"/>
          </a:xfrm>
          <a:prstGeom prst="rect">
            <a:avLst/>
          </a:prstGeom>
        </p:spPr>
      </p:pic>
      <p:sp>
        <p:nvSpPr>
          <p:cNvPr id="6" name="Title 1"/>
          <p:cNvSpPr>
            <a:spLocks noGrp="1"/>
          </p:cNvSpPr>
          <p:nvPr>
            <p:ph type="title"/>
          </p:nvPr>
        </p:nvSpPr>
        <p:spPr>
          <a:xfrm>
            <a:off x="83889" y="83890"/>
            <a:ext cx="9454394" cy="1320800"/>
          </a:xfrm>
        </p:spPr>
        <p:txBody>
          <a:bodyPr>
            <a:normAutofit/>
          </a:bodyPr>
          <a:lstStyle/>
          <a:p>
            <a:pPr marL="571500" indent="-571500">
              <a:buFont typeface="Wingdings" panose="05000000000000000000" pitchFamily="2" charset="2"/>
              <a:buChar char="v"/>
            </a:pP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mục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tham</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khảo</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sz="1800" i="1" dirty="0" err="1">
                <a:latin typeface="Arial" panose="020B0604020202020204" pitchFamily="34" charset="0"/>
                <a:cs typeface="Arial" panose="020B0604020202020204" pitchFamily="34" charset="0"/>
              </a:rPr>
              <a:t>Các</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tài</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liệu</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kỹ</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thuật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về</a:t>
            </a:r>
            <a:r>
              <a:rPr lang="en-US" sz="1800" i="1" dirty="0">
                <a:latin typeface="Arial" panose="020B0604020202020204" pitchFamily="34" charset="0"/>
                <a:cs typeface="Arial" panose="020B0604020202020204" pitchFamily="34" charset="0"/>
              </a:rPr>
              <a:t> ASP.NET Core, Entity Framework </a:t>
            </a:r>
            <a:r>
              <a:rPr lang="en-US" sz="1800" i="1" dirty="0" err="1">
                <a:latin typeface="Arial" panose="020B0604020202020204" pitchFamily="34" charset="0"/>
                <a:cs typeface="Arial" panose="020B0604020202020204" pitchFamily="34" charset="0"/>
              </a:rPr>
              <a:t>và</a:t>
            </a:r>
            <a:r>
              <a:rPr lang="en-US" sz="1800" i="1" dirty="0">
                <a:latin typeface="Arial" panose="020B0604020202020204" pitchFamily="34" charset="0"/>
                <a:cs typeface="Arial" panose="020B0604020202020204" pitchFamily="34" charset="0"/>
              </a:rPr>
              <a:t> SQL Server</a:t>
            </a:r>
          </a:p>
        </p:txBody>
      </p:sp>
    </p:spTree>
    <p:extLst>
      <p:ext uri="{BB962C8B-B14F-4D97-AF65-F5344CB8AC3E}">
        <p14:creationId xmlns:p14="http://schemas.microsoft.com/office/powerpoint/2010/main" val="153391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5134" y="3747082"/>
            <a:ext cx="5723465" cy="606804"/>
          </a:xfrm>
        </p:spPr>
        <p:txBody>
          <a:bodyPr>
            <a:noAutofit/>
          </a:bodyPr>
          <a:lstStyle/>
          <a:p>
            <a:r>
              <a:rPr lang="en-US" sz="1000" dirty="0" smtClean="0">
                <a:solidFill>
                  <a:schemeClr val="tx1"/>
                </a:solidFill>
              </a:rPr>
              <a:t>Link video </a:t>
            </a:r>
            <a:r>
              <a:rPr lang="en-US" sz="1000" dirty="0" err="1" smtClean="0">
                <a:solidFill>
                  <a:schemeClr val="tx1"/>
                </a:solidFill>
              </a:rPr>
              <a:t>thuyết</a:t>
            </a:r>
            <a:r>
              <a:rPr lang="en-US" sz="1000" dirty="0" smtClean="0">
                <a:solidFill>
                  <a:schemeClr val="tx1"/>
                </a:solidFill>
              </a:rPr>
              <a:t> </a:t>
            </a:r>
            <a:r>
              <a:rPr lang="en-US" sz="1000" dirty="0" err="1" smtClean="0">
                <a:solidFill>
                  <a:schemeClr val="tx1"/>
                </a:solidFill>
              </a:rPr>
              <a:t>trình</a:t>
            </a:r>
            <a:r>
              <a:rPr lang="en-US" sz="1000" dirty="0" smtClean="0">
                <a:solidFill>
                  <a:schemeClr val="tx1"/>
                </a:solidFill>
              </a:rPr>
              <a:t> :</a:t>
            </a:r>
            <a:r>
              <a:rPr lang="en-US" sz="1000" dirty="0" smtClean="0">
                <a:solidFill>
                  <a:schemeClr val="tx1"/>
                </a:solidFill>
              </a:rPr>
              <a:t/>
            </a:r>
            <a:br>
              <a:rPr lang="en-US" sz="1000" dirty="0" smtClean="0">
                <a:solidFill>
                  <a:schemeClr val="tx1"/>
                </a:solidFill>
              </a:rPr>
            </a:br>
            <a:r>
              <a:rPr lang="en-US" sz="1000" dirty="0" smtClean="0">
                <a:solidFill>
                  <a:schemeClr val="tx1"/>
                </a:solidFill>
                <a:hlinkClick r:id="rId2"/>
              </a:rPr>
              <a:t>https://drive.google.com/file/d/1xXUNWFd92TQ1HAsPD-YaCGBnfXkITnyw/view?usp=drive_link</a:t>
            </a:r>
            <a:endParaRPr lang="en-US" sz="1000" dirty="0">
              <a:solidFill>
                <a:schemeClr val="tx1"/>
              </a:solidFill>
            </a:endParaRPr>
          </a:p>
        </p:txBody>
      </p:sp>
      <p:sp>
        <p:nvSpPr>
          <p:cNvPr id="3" name="Title 1"/>
          <p:cNvSpPr txBox="1">
            <a:spLocks/>
          </p:cNvSpPr>
          <p:nvPr/>
        </p:nvSpPr>
        <p:spPr>
          <a:xfrm>
            <a:off x="2641757" y="2540465"/>
            <a:ext cx="5723465" cy="606804"/>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7200" dirty="0" smtClean="0">
                <a:solidFill>
                  <a:schemeClr val="tx1"/>
                </a:solidFill>
              </a:rPr>
              <a:t>THANK YOU</a:t>
            </a:r>
            <a:endParaRPr lang="en-US" sz="7200" dirty="0">
              <a:solidFill>
                <a:schemeClr val="tx1"/>
              </a:solidFill>
            </a:endParaRPr>
          </a:p>
        </p:txBody>
      </p:sp>
    </p:spTree>
    <p:extLst>
      <p:ext uri="{BB962C8B-B14F-4D97-AF65-F5344CB8AC3E}">
        <p14:creationId xmlns:p14="http://schemas.microsoft.com/office/powerpoint/2010/main" val="1253817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240</TotalTime>
  <Words>2197</Words>
  <Application>Microsoft Office PowerPoint</Application>
  <PresentationFormat>Widescreen</PresentationFormat>
  <Paragraphs>177</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Inter</vt:lpstr>
      <vt:lpstr>Lexend</vt:lpstr>
      <vt:lpstr>Trebuchet MS</vt:lpstr>
      <vt:lpstr>Wingdings</vt:lpstr>
      <vt:lpstr>Wingdings 3</vt:lpstr>
      <vt:lpstr>Facet</vt:lpstr>
      <vt:lpstr>PowerPoint Presentation</vt:lpstr>
      <vt:lpstr>PowerPoint Presentation</vt:lpstr>
      <vt:lpstr>Lý do chọn đề tài xây dựng website bán sản phẩm công nghệ của Apple</vt:lpstr>
      <vt:lpstr>Phạm vi nghiên cứu và các chức năng chính của hệ thống Xây dựng hệ thống cơ bản phục vụ quản lý và bán hàng trực tuyến sản phẩm công nghệ</vt:lpstr>
      <vt:lpstr>Nghiên cứu lý thuyết về nền tảng ASP.NET Công nghệ phát triển ứng dụng web mạnh mẽ từ hệ sinh thái .NET của Microsoft</vt:lpstr>
      <vt:lpstr>Công nghệ hỗ trợ giao diện và tương tác người dùng Sử dụng HTML, CSS, JavaScript, jQuery và Bootstrap để tối ưu trải nghiệm</vt:lpstr>
      <vt:lpstr>Kiến trúc phần mềm theo mô hình MVC Phân tách hệ thống thành 3 thành phần riêng biệt để quản lý code hiệu quả</vt:lpstr>
      <vt:lpstr>Thực hiện hóa nghiên cứu và xu hướng kinh doanh trực tuyến Đánh giá lợi ích và thách thức của hình thức kinh doanh online hiện nay</vt:lpstr>
      <vt:lpstr>Mục tiêu cụ thể của website Hỗ trợ hoạt động kinh doanh và quản lý cửa hàng một cách khoa học và hiệu quả</vt:lpstr>
      <vt:lpstr>Yêu cầu chức năng dành cho khách hàng và quản trị Phân định rõ quyền hạn và tính năng giữa người mua và người quản lý hệ thống</vt:lpstr>
      <vt:lpstr>Thiết kế các thực thể dữ liệu cốt lõi trong SQL Server Cấu trúc các bảng dữ liệu phục vụ lưu trữ thông tin hệ thống.</vt:lpstr>
      <vt:lpstr>Mô tả chi tiết Use Case</vt:lpstr>
      <vt:lpstr>Mô tả chi tiết Use Case: Sản phẩm và Tìm kiếm Tính năng giúp khách hàng tiếp cận danh mục sản phẩm của Apple</vt:lpstr>
      <vt:lpstr>Mô tả chi tiết Use Case: Giỏ hàng và Thanh toán Quy trình từ việc chọn hàng đến khi hoàn tất đơn hàng trên website</vt:lpstr>
      <vt:lpstr>Mô tả chi tiết Use Case dành cho Quản trị viên (Admin) Các công cụ quản lý toàn diện dành cho người vận hành hệ thống</vt:lpstr>
      <vt:lpstr>Thiết kế giao diện Trang chủ và Trang sản phẩm Giao diện hiện đại hiển thị các sản phẩm Apple nổi bật và bộ lọc tìm kiếm</vt:lpstr>
      <vt:lpstr>Chi tiết sản phẩm, Giỏ hàng và quy trình Đơn hàng Cung cấp đầy đủ thông số kỹ thuật và công cụ quản lý mua sắm trực quan</vt:lpstr>
      <vt:lpstr>Giao diện Dashboard và Thống kê quản trị Admin Hệ thống báo cáo số liệu tổng quan giúp theo dõi hiệu quả kinh doanh</vt:lpstr>
      <vt:lpstr>Quản lý Sản phẩm, Đơn hàng và Khách hàng (Admin) Giao diện thao tác dữ liệu tập trung dành cho quản trị viên hệ thống </vt:lpstr>
      <vt:lpstr>Kết luận về các tính năng đã hoàn thành và hạn chế Đánh giá mức độ đáp ứng yêu cầu của hệ thống so với mục tiêu ban đầu</vt:lpstr>
      <vt:lpstr>Đánh giá thuận lợi, khó khăn và hướng phát triển Kế hoạch nâng cấp hệ thống trong tương lai để hoàn thiện dịch vụ</vt:lpstr>
      <vt:lpstr>Danh mục tài liệu tham khảo Các tài liệu kỹ thuật về ASP.NET Core, Entity Framework và SQL Server</vt:lpstr>
      <vt:lpstr>Link video thuyết trình : https://drive.google.com/file/d/1xXUNWFd92TQ1HAsPD-YaCGBnfXkITnyw/view?usp=drive_link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21</cp:revision>
  <dcterms:created xsi:type="dcterms:W3CDTF">2026-09-04T14:13:24Z</dcterms:created>
  <dcterms:modified xsi:type="dcterms:W3CDTF">2026-09-06T07:05:10Z</dcterms:modified>
</cp:coreProperties>
</file>